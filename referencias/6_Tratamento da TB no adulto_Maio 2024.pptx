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479" r:id="rId5"/>
    <p:sldId id="480" r:id="rId6"/>
    <p:sldId id="380" r:id="rId7"/>
    <p:sldId id="266" r:id="rId8"/>
    <p:sldId id="262" r:id="rId9"/>
    <p:sldId id="2145706485" r:id="rId10"/>
    <p:sldId id="449" r:id="rId11"/>
    <p:sldId id="481" r:id="rId12"/>
    <p:sldId id="2145706496" r:id="rId13"/>
    <p:sldId id="2145706497" r:id="rId14"/>
    <p:sldId id="2145706486" r:id="rId15"/>
    <p:sldId id="259" r:id="rId16"/>
    <p:sldId id="453" r:id="rId17"/>
    <p:sldId id="457" r:id="rId18"/>
    <p:sldId id="2145706504" r:id="rId19"/>
    <p:sldId id="2145706487" r:id="rId20"/>
    <p:sldId id="2145706506" r:id="rId21"/>
    <p:sldId id="2145706489" r:id="rId22"/>
    <p:sldId id="472" r:id="rId23"/>
    <p:sldId id="2145706502" r:id="rId24"/>
    <p:sldId id="2145706503" r:id="rId25"/>
    <p:sldId id="2145706505" r:id="rId26"/>
    <p:sldId id="2145706491" r:id="rId27"/>
    <p:sldId id="2145706490" r:id="rId28"/>
    <p:sldId id="317" r:id="rId29"/>
    <p:sldId id="2145706507" r:id="rId30"/>
    <p:sldId id="2145706492" r:id="rId31"/>
    <p:sldId id="2145706493" r:id="rId32"/>
    <p:sldId id="2145706510" r:id="rId33"/>
    <p:sldId id="2145706488" r:id="rId34"/>
    <p:sldId id="2145706501" r:id="rId35"/>
    <p:sldId id="2145706511" r:id="rId36"/>
    <p:sldId id="360" r:id="rId37"/>
    <p:sldId id="2145706508" r:id="rId38"/>
    <p:sldId id="2145706509" r:id="rId39"/>
    <p:sldId id="2145706494" r:id="rId40"/>
    <p:sldId id="2145706495" r:id="rId41"/>
    <p:sldId id="459" r:id="rId42"/>
    <p:sldId id="270" r:id="rId43"/>
    <p:sldId id="464" r:id="rId44"/>
    <p:sldId id="2145706498" r:id="rId45"/>
    <p:sldId id="275" r:id="rId46"/>
    <p:sldId id="475" r:id="rId47"/>
    <p:sldId id="2145706499" r:id="rId48"/>
    <p:sldId id="274" r:id="rId49"/>
    <p:sldId id="260" r:id="rId50"/>
    <p:sldId id="2145706466" r:id="rId51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menia Promilda Mutemba" initials="CPM" lastIdx="1" clrIdx="0">
    <p:extLst>
      <p:ext uri="{19B8F6BF-5375-455C-9EA6-DF929625EA0E}">
        <p15:presenceInfo xmlns:p15="http://schemas.microsoft.com/office/powerpoint/2012/main" userId="S-1-5-21-736339377-1904532179-1408265999-1428" providerId="AD"/>
      </p:ext>
    </p:extLst>
  </p:cmAuthor>
  <p:cmAuthor id="2" name="Claudia Mutaquiha" initials="CM" lastIdx="1" clrIdx="1">
    <p:extLst>
      <p:ext uri="{19B8F6BF-5375-455C-9EA6-DF929625EA0E}">
        <p15:presenceInfo xmlns:p15="http://schemas.microsoft.com/office/powerpoint/2012/main" userId="S-1-5-21-376389493-1509186599-529161661-2100" providerId="AD"/>
      </p:ext>
    </p:extLst>
  </p:cmAuthor>
  <p:cmAuthor id="3" name="Maria Ruano" initials="MR" lastIdx="1" clrIdx="2">
    <p:extLst>
      <p:ext uri="{19B8F6BF-5375-455C-9EA6-DF929625EA0E}">
        <p15:presenceInfo xmlns:p15="http://schemas.microsoft.com/office/powerpoint/2012/main" userId="S-1-5-21-156492379-2406646550-3279099204-11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6" autoAdjust="0"/>
    <p:restoredTop sz="94660"/>
  </p:normalViewPr>
  <p:slideViewPr>
    <p:cSldViewPr snapToGrid="0">
      <p:cViewPr>
        <p:scale>
          <a:sx n="87" d="100"/>
          <a:sy n="87" d="100"/>
        </p:scale>
        <p:origin x="293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ide Loide" userId="a37e01257ba59d0e" providerId="LiveId" clId="{2B462CFC-394C-417F-BA93-069EE98F9616}"/>
    <pc:docChg chg="modSld">
      <pc:chgData name="Loide Loide" userId="a37e01257ba59d0e" providerId="LiveId" clId="{2B462CFC-394C-417F-BA93-069EE98F9616}" dt="2024-05-17T20:57:25.543" v="39" actId="20577"/>
      <pc:docMkLst>
        <pc:docMk/>
      </pc:docMkLst>
      <pc:sldChg chg="modSp mod">
        <pc:chgData name="Loide Loide" userId="a37e01257ba59d0e" providerId="LiveId" clId="{2B462CFC-394C-417F-BA93-069EE98F9616}" dt="2024-05-17T20:57:25.543" v="39" actId="20577"/>
        <pc:sldMkLst>
          <pc:docMk/>
          <pc:sldMk cId="434550695" sldId="256"/>
        </pc:sldMkLst>
        <pc:spChg chg="mod">
          <ac:chgData name="Loide Loide" userId="a37e01257ba59d0e" providerId="LiveId" clId="{2B462CFC-394C-417F-BA93-069EE98F9616}" dt="2024-05-17T20:57:25.543" v="39" actId="20577"/>
          <ac:spMkLst>
            <pc:docMk/>
            <pc:sldMk cId="434550695" sldId="256"/>
            <ac:spMk id="2" creationId="{778466EC-270C-4BC9-A10E-4A49D53ACCB3}"/>
          </ac:spMkLst>
        </pc:spChg>
        <pc:spChg chg="mod">
          <ac:chgData name="Loide Loide" userId="a37e01257ba59d0e" providerId="LiveId" clId="{2B462CFC-394C-417F-BA93-069EE98F9616}" dt="2024-05-17T20:57:06.107" v="27" actId="20577"/>
          <ac:spMkLst>
            <pc:docMk/>
            <pc:sldMk cId="434550695" sldId="256"/>
            <ac:spMk id="12" creationId="{48FBA4E6-D2D2-464A-BBA1-5A8AFC8869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4E65A-38EF-4500-8459-C3CEA7EF5B22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CA7E-345D-4509-872E-F17CF967C4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8477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CA7E-345D-4509-872E-F17CF967C4EB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3314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5830888"/>
            <a:ext cx="4168775" cy="55245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s-ES" b="1" dirty="0">
                <a:latin typeface="Times New Roman" charset="0"/>
                <a:ea typeface="ＭＳ Ｐゴシック" charset="0"/>
              </a:rPr>
              <a:t>Informações</a:t>
            </a:r>
            <a:r>
              <a:rPr lang="es-ES" b="1" baseline="0" dirty="0">
                <a:latin typeface="Times New Roman" charset="0"/>
                <a:ea typeface="ＭＳ Ｐゴシック" charset="0"/>
              </a:rPr>
              <a:t> adicionais:</a:t>
            </a:r>
          </a:p>
          <a:p>
            <a:pPr>
              <a:defRPr/>
            </a:pPr>
            <a:r>
              <a:rPr lang="es-ES" baseline="0" dirty="0">
                <a:latin typeface="Times New Roman" charset="0"/>
                <a:ea typeface="ＭＳ Ｐゴシック" charset="0"/>
              </a:rPr>
              <a:t>Os tuberculostaticos actuam atraves de diferentes mecanismos, contra os bacilos da TB. Por este motivo, os regimes de TAT são constituídos por fármacos diversos, com diferentes mecanismos de acção. A existência de um número de fármacos activos suficientes, administrados durante um tempo suficiente é o que pode garantir a curação da doença. </a:t>
            </a:r>
            <a:endParaRPr lang="es-E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05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0658072-2697-4042-BD0B-1EA58E303BB8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74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CA7E-345D-4509-872E-F17CF967C4EB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81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CA7E-345D-4509-872E-F17CF967C4EB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763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C071F-2E8E-4E04-89DC-3AECBE94E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8C05DA-2E82-4315-A08C-8550DB6DD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019BA6-53D2-422D-A7A4-74938A21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9CEC4B-E487-41C1-B681-523FB20B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31BD68-1376-463D-9879-719A839B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879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D40034-DC8B-4053-8B0F-B9C1D0A2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9E22C2-8EDF-405F-B287-E6525B42B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2714B8-40F0-4C57-B991-1AFAFB3D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4A423C-62D3-4CF4-B894-A0C8D0E3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AE3D6E-8E2C-4C8A-BC38-98D2B5EC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411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21C117-5F2D-438D-84FB-E56FFAFC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CF74BF-AD47-47D5-B51C-3F7AF07EE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DF97A86-7BAF-44C9-8B17-599B6800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6BE207-6395-4F20-A361-85F14BD2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8AB7F6-3788-407F-9A9C-8A364DAB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272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988C48-8EE7-4BA0-9620-096C12CA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E74262-FC5F-4515-9E68-2A033DF4F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20A18FD-AF02-42DC-915F-05D34E897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37F3DD5-B6C1-4022-857D-8B12A6B8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DD51973-F5A6-4F1D-BFC7-76645397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8BA263-3867-4485-8187-EB409406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666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88D8F6-6884-47C6-B7D2-17EA6B0F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F341C0C-8871-48F6-AD6E-CDC070C7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8BF8DF2-24E3-416C-9F9C-8B7C995E5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D392501-054F-47FE-AF65-6184C4332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E1B34A4-95C6-4658-8FB6-C97A590FB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FD5EBC4-939D-4F37-AD00-9D54EF6C1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9AD14E4-E51B-4793-A177-A53C0058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8824E38-108D-4361-A771-6C8D680D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36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5CB72-679A-4474-AA15-8ADBEBAF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A265B3-CAF5-41B3-87E6-6FCB7246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7234CC1-0440-414B-886F-AB987A06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20F0F55-6547-4724-8B4B-F720ACF1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662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7EFAC76-EE2A-477C-9F45-A04B3402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1F6FC12-5CFC-4EB0-89FF-9A0F1CD4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FCF9FE-74D1-4ADA-B354-DD9FC3D0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528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93CF6-70A2-483D-84E6-17734B0C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B656D2-488B-4903-9128-01FB53AE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3A78AE-E233-4317-8DA6-4BA906C6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B8E635-06D3-433F-94C5-1C9DA405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5145256-2369-4C49-8AC7-93FC938A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502D7D-48D2-496B-BCA3-4C9A40FF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776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53EEE9-EBCF-4D99-8A47-1206F429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ABE4935-C3B6-4B2C-AD24-3022E2904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7A6FCE5-D83C-455E-B84A-9D615966A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725D89-D1CF-4948-9C4E-E65A6632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B1A76B-B5C0-4633-8766-89E3214A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984F8CA-B971-40D0-8D06-99E33B8B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233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B3E4FA-5246-4962-8A36-5D357FE9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0A6776-D463-42AB-8F35-EAD885B33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A69B20-41BB-46E9-8201-3C22C9A6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F5DC2A-ADD0-4B87-A160-6E5038C6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1593987-4021-4142-8C28-E1AAD0A6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137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45CA38E-8B09-4C8F-9B23-15BF563AF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E06CB11-70FD-48C4-B367-F00E54CE2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F46FBF-1F97-49D4-B4EB-C5D7858F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899539-0511-49CF-9F0E-0CC136E9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297B8E-741E-43D2-8617-50D36AEE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105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B1C173A-1865-4FDA-BA01-C61BE2F9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DD65E4-A008-42E1-95AA-8655E3DD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A7A104-5CEA-4A63-8FB2-469B1BE81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F0BEB-010F-4A57-BA27-B9A4ADFC77AD}" type="datetimeFigureOut">
              <a:rPr lang="en-ZA" smtClean="0"/>
              <a:t>2024/10/01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CA09DA3-47EA-4145-931B-2D3B7B23D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39083B-3720-4882-AF93-96A9BC1A2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EB543-5DD8-4243-B317-A8C59D9C0A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028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Comite.nacional.tbmr@gmail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7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8466EC-270C-4BC9-A10E-4A49D53AC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497" y="2729260"/>
            <a:ext cx="6375199" cy="1355750"/>
          </a:xfrm>
        </p:spPr>
        <p:txBody>
          <a:bodyPr>
            <a:normAutofit fontScale="90000"/>
          </a:bodyPr>
          <a:lstStyle/>
          <a:p>
            <a:pPr algn="l"/>
            <a:r>
              <a:rPr lang="en-GB" sz="4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Tema: </a:t>
            </a:r>
            <a:br>
              <a:rPr lang="en-GB" sz="4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sz="4000" b="1" dirty="0" err="1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Tratamento</a:t>
            </a:r>
            <a:r>
              <a:rPr lang="en-GB" sz="4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 </a:t>
            </a:r>
            <a:r>
              <a:rPr lang="en-GB" sz="4000" b="1" dirty="0" err="1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Tuberculose</a:t>
            </a:r>
            <a:r>
              <a:rPr lang="en-GB" sz="4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no </a:t>
            </a:r>
            <a:r>
              <a:rPr lang="en-GB" sz="4000" b="1" dirty="0" err="1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Adulto</a:t>
            </a:r>
            <a:endParaRPr lang="en-ZA" sz="4000" b="1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Freeform 17">
            <a:extLst>
              <a:ext uri="{FF2B5EF4-FFF2-40B4-BE49-F238E27FC236}">
                <a16:creationId xmlns:a16="http://schemas.microsoft.com/office/drawing/2014/main" xmlns="" id="{41F18803-BE79-4916-AE6B-5DE238B367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8663110" cy="2130951"/>
          </a:xfrm>
          <a:custGeom>
            <a:avLst/>
            <a:gdLst>
              <a:gd name="connsiteX0" fmla="*/ 0 w 8663110"/>
              <a:gd name="connsiteY0" fmla="*/ 0 h 2130951"/>
              <a:gd name="connsiteX1" fmla="*/ 819150 w 8663110"/>
              <a:gd name="connsiteY1" fmla="*/ 0 h 2130951"/>
              <a:gd name="connsiteX2" fmla="*/ 1028700 w 8663110"/>
              <a:gd name="connsiteY2" fmla="*/ 0 h 2130951"/>
              <a:gd name="connsiteX3" fmla="*/ 4187970 w 8663110"/>
              <a:gd name="connsiteY3" fmla="*/ 0 h 2130951"/>
              <a:gd name="connsiteX4" fmla="*/ 4400550 w 8663110"/>
              <a:gd name="connsiteY4" fmla="*/ 0 h 2130951"/>
              <a:gd name="connsiteX5" fmla="*/ 5262791 w 8663110"/>
              <a:gd name="connsiteY5" fmla="*/ 0 h 2130951"/>
              <a:gd name="connsiteX6" fmla="*/ 5262791 w 8663110"/>
              <a:gd name="connsiteY6" fmla="*/ 478 h 2130951"/>
              <a:gd name="connsiteX7" fmla="*/ 8663110 w 8663110"/>
              <a:gd name="connsiteY7" fmla="*/ 478 h 2130951"/>
              <a:gd name="connsiteX8" fmla="*/ 7676422 w 8663110"/>
              <a:gd name="connsiteY8" fmla="*/ 2130951 h 2130951"/>
              <a:gd name="connsiteX9" fmla="*/ 4400550 w 8663110"/>
              <a:gd name="connsiteY9" fmla="*/ 2130951 h 2130951"/>
              <a:gd name="connsiteX10" fmla="*/ 4187970 w 8663110"/>
              <a:gd name="connsiteY10" fmla="*/ 2130951 h 2130951"/>
              <a:gd name="connsiteX11" fmla="*/ 1028700 w 8663110"/>
              <a:gd name="connsiteY11" fmla="*/ 2130951 h 2130951"/>
              <a:gd name="connsiteX12" fmla="*/ 819150 w 8663110"/>
              <a:gd name="connsiteY12" fmla="*/ 2130951 h 2130951"/>
              <a:gd name="connsiteX13" fmla="*/ 0 w 8663110"/>
              <a:gd name="connsiteY13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663110" h="2130951">
                <a:moveTo>
                  <a:pt x="0" y="0"/>
                </a:moveTo>
                <a:lnTo>
                  <a:pt x="819150" y="0"/>
                </a:lnTo>
                <a:lnTo>
                  <a:pt x="1028700" y="0"/>
                </a:lnTo>
                <a:lnTo>
                  <a:pt x="4187970" y="0"/>
                </a:lnTo>
                <a:lnTo>
                  <a:pt x="4400550" y="0"/>
                </a:lnTo>
                <a:lnTo>
                  <a:pt x="5262791" y="0"/>
                </a:lnTo>
                <a:lnTo>
                  <a:pt x="5262791" y="478"/>
                </a:lnTo>
                <a:lnTo>
                  <a:pt x="8663110" y="478"/>
                </a:lnTo>
                <a:lnTo>
                  <a:pt x="7676422" y="2130951"/>
                </a:lnTo>
                <a:lnTo>
                  <a:pt x="4400550" y="2130951"/>
                </a:lnTo>
                <a:lnTo>
                  <a:pt x="4187970" y="2130951"/>
                </a:lnTo>
                <a:lnTo>
                  <a:pt x="1028700" y="2130951"/>
                </a:lnTo>
                <a:lnTo>
                  <a:pt x="819150" y="2130951"/>
                </a:lnTo>
                <a:lnTo>
                  <a:pt x="0" y="213095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xmlns="" id="{12DA670F-1454-4435-ADD5-1B8E4B27B8B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9150" y="151768"/>
            <a:ext cx="2521402" cy="1979184"/>
          </a:xfrm>
          <a:prstGeom prst="rect">
            <a:avLst/>
          </a:prstGeom>
        </p:spPr>
      </p:pic>
      <p:sp>
        <p:nvSpPr>
          <p:cNvPr id="30" name="Freeform 18">
            <a:extLst>
              <a:ext uri="{FF2B5EF4-FFF2-40B4-BE49-F238E27FC236}">
                <a16:creationId xmlns:a16="http://schemas.microsoft.com/office/drawing/2014/main" xmlns="" id="{C15229F3-7A2E-4558-98FE-7A5F69409D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4683319"/>
            <a:ext cx="6516874" cy="2174681"/>
          </a:xfrm>
          <a:custGeom>
            <a:avLst/>
            <a:gdLst>
              <a:gd name="connsiteX0" fmla="*/ 0 w 6516874"/>
              <a:gd name="connsiteY0" fmla="*/ 0 h 2174681"/>
              <a:gd name="connsiteX1" fmla="*/ 819150 w 6516874"/>
              <a:gd name="connsiteY1" fmla="*/ 0 h 2174681"/>
              <a:gd name="connsiteX2" fmla="*/ 1038225 w 6516874"/>
              <a:gd name="connsiteY2" fmla="*/ 0 h 2174681"/>
              <a:gd name="connsiteX3" fmla="*/ 6516874 w 6516874"/>
              <a:gd name="connsiteY3" fmla="*/ 0 h 2174681"/>
              <a:gd name="connsiteX4" fmla="*/ 5509712 w 6516874"/>
              <a:gd name="connsiteY4" fmla="*/ 2174681 h 2174681"/>
              <a:gd name="connsiteX5" fmla="*/ 1038225 w 6516874"/>
              <a:gd name="connsiteY5" fmla="*/ 2174681 h 2174681"/>
              <a:gd name="connsiteX6" fmla="*/ 947987 w 6516874"/>
              <a:gd name="connsiteY6" fmla="*/ 2174681 h 2174681"/>
              <a:gd name="connsiteX7" fmla="*/ 819150 w 6516874"/>
              <a:gd name="connsiteY7" fmla="*/ 2174681 h 2174681"/>
              <a:gd name="connsiteX8" fmla="*/ 0 w 6516874"/>
              <a:gd name="connsiteY8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16874" h="2174681">
                <a:moveTo>
                  <a:pt x="0" y="0"/>
                </a:moveTo>
                <a:lnTo>
                  <a:pt x="819150" y="0"/>
                </a:lnTo>
                <a:lnTo>
                  <a:pt x="1038225" y="0"/>
                </a:lnTo>
                <a:lnTo>
                  <a:pt x="6516874" y="0"/>
                </a:lnTo>
                <a:lnTo>
                  <a:pt x="5509712" y="2174681"/>
                </a:lnTo>
                <a:lnTo>
                  <a:pt x="1038225" y="2174681"/>
                </a:lnTo>
                <a:lnTo>
                  <a:pt x="947987" y="2174681"/>
                </a:lnTo>
                <a:lnTo>
                  <a:pt x="819150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4A4A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xmlns="" id="{AB3F2626-47DF-42DC-82D1-96EB4A60C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040" y="2729260"/>
            <a:ext cx="4040717" cy="22838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5EF8614-4DB5-48B5-AB53-CAE33D00E672}"/>
              </a:ext>
            </a:extLst>
          </p:cNvPr>
          <p:cNvSpPr/>
          <p:nvPr/>
        </p:nvSpPr>
        <p:spPr>
          <a:xfrm>
            <a:off x="466928" y="311285"/>
            <a:ext cx="7066386" cy="1400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2° RETIRO DO PROGRAMA NACIONAL DE CONTROLO DA TUBERCULOSE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64B406C-5897-4600-8FD1-0D34313E2629}"/>
              </a:ext>
            </a:extLst>
          </p:cNvPr>
          <p:cNvSpPr/>
          <p:nvPr/>
        </p:nvSpPr>
        <p:spPr>
          <a:xfrm>
            <a:off x="466928" y="311285"/>
            <a:ext cx="7066386" cy="1400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b="1" dirty="0">
                <a:solidFill>
                  <a:schemeClr val="bg1"/>
                </a:solidFill>
              </a:rPr>
              <a:t>PACOTE INTEGRADO DE TUBERCULOSE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48FBA4E6-D2D2-464A-BBA1-5A8AFC8869CB}"/>
              </a:ext>
            </a:extLst>
          </p:cNvPr>
          <p:cNvSpPr txBox="1">
            <a:spLocks/>
          </p:cNvSpPr>
          <p:nvPr/>
        </p:nvSpPr>
        <p:spPr>
          <a:xfrm>
            <a:off x="6727971" y="5635598"/>
            <a:ext cx="5192786" cy="911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/>
              <a:t>                          Maputo</a:t>
            </a:r>
            <a:r>
              <a:rPr lang="en-GB" sz="2000" b="1" dirty="0"/>
              <a:t>, Maio de 2024</a:t>
            </a:r>
            <a:endParaRPr lang="en-ZA" sz="2000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2FE840B7-BB1F-4B2C-9CA8-F90BCE97F0D1}"/>
              </a:ext>
            </a:extLst>
          </p:cNvPr>
          <p:cNvSpPr txBox="1">
            <a:spLocks/>
          </p:cNvSpPr>
          <p:nvPr/>
        </p:nvSpPr>
        <p:spPr>
          <a:xfrm>
            <a:off x="865898" y="2881660"/>
            <a:ext cx="4479288" cy="1355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ZA" sz="4000" b="1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455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4B82D8-8781-4BA0-92F9-6AA89D15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599" cy="72301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3200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Conteúdo</a:t>
            </a:r>
            <a:endParaRPr lang="en-ZA" sz="3200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D54631E-9379-409B-8D24-58BD521D4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8153"/>
            <a:ext cx="10716491" cy="42347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 err="1">
                <a:cs typeface="Aharoni" panose="02010803020104030203" pitchFamily="2" charset="-79"/>
              </a:rPr>
              <a:t>Objectivos</a:t>
            </a:r>
            <a:r>
              <a:rPr lang="en-GB" sz="2400" dirty="0">
                <a:cs typeface="Aharoni" panose="02010803020104030203" pitchFamily="2" charset="-79"/>
              </a:rPr>
              <a:t> de </a:t>
            </a:r>
            <a:r>
              <a:rPr lang="en-GB" sz="2400" dirty="0" err="1">
                <a:cs typeface="Aharoni" panose="02010803020104030203" pitchFamily="2" charset="-79"/>
              </a:rPr>
              <a:t>aprendizagem</a:t>
            </a:r>
            <a:endParaRPr lang="en-GB" sz="2400" dirty="0">
              <a:cs typeface="Aharoni" panose="02010803020104030203" pitchFamily="2" charset="-79"/>
            </a:endParaRPr>
          </a:p>
          <a:p>
            <a:pPr>
              <a:lnSpc>
                <a:spcPct val="150000"/>
              </a:lnSpc>
            </a:pPr>
            <a:r>
              <a:rPr lang="en-GB" sz="2400" dirty="0" err="1">
                <a:cs typeface="Aharoni" panose="02010803020104030203" pitchFamily="2" charset="-79"/>
              </a:rPr>
              <a:t>Medicamentos</a:t>
            </a:r>
            <a:r>
              <a:rPr lang="en-GB" sz="2400" dirty="0">
                <a:cs typeface="Aharoni" panose="02010803020104030203" pitchFamily="2" charset="-79"/>
              </a:rPr>
              <a:t> para o </a:t>
            </a:r>
            <a:r>
              <a:rPr lang="en-GB" sz="2400" dirty="0" err="1">
                <a:cs typeface="Aharoni" panose="02010803020104030203" pitchFamily="2" charset="-79"/>
              </a:rPr>
              <a:t>tratamento</a:t>
            </a:r>
            <a:r>
              <a:rPr lang="en-GB" sz="2400" dirty="0">
                <a:cs typeface="Aharoni" panose="02010803020104030203" pitchFamily="2" charset="-79"/>
              </a:rPr>
              <a:t> da </a:t>
            </a:r>
            <a:r>
              <a:rPr lang="en-GB" sz="2400" dirty="0" err="1">
                <a:cs typeface="Aharoni" panose="02010803020104030203" pitchFamily="2" charset="-79"/>
              </a:rPr>
              <a:t>Tuberculose</a:t>
            </a:r>
            <a:endParaRPr lang="en-GB" sz="2400" dirty="0">
              <a:cs typeface="Aharoni" panose="02010803020104030203" pitchFamily="2" charset="-79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cs typeface="Aharoni" panose="02010803020104030203" pitchFamily="2" charset="-79"/>
              </a:rPr>
              <a:t>Mecanismo</a:t>
            </a:r>
            <a:r>
              <a:rPr lang="en-US" sz="2400" dirty="0">
                <a:cs typeface="Aharoni" panose="02010803020104030203" pitchFamily="2" charset="-79"/>
              </a:rPr>
              <a:t> de </a:t>
            </a:r>
            <a:r>
              <a:rPr lang="en-US" sz="2400" dirty="0" err="1">
                <a:cs typeface="Aharoni" panose="02010803020104030203" pitchFamily="2" charset="-79"/>
              </a:rPr>
              <a:t>acção</a:t>
            </a:r>
            <a:r>
              <a:rPr lang="en-US" sz="2400" dirty="0">
                <a:cs typeface="Aharoni" panose="02010803020104030203" pitchFamily="2" charset="-79"/>
              </a:rPr>
              <a:t> dos </a:t>
            </a:r>
            <a:r>
              <a:rPr lang="en-US" sz="2400" dirty="0" err="1">
                <a:cs typeface="Aharoni" panose="02010803020104030203" pitchFamily="2" charset="-79"/>
              </a:rPr>
              <a:t>medicamentos</a:t>
            </a:r>
            <a:r>
              <a:rPr lang="en-US" sz="2400" dirty="0">
                <a:cs typeface="Aharoni" panose="02010803020104030203" pitchFamily="2" charset="-79"/>
              </a:rPr>
              <a:t> Anti-TB 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cs typeface="Aharoni" panose="02010803020104030203" pitchFamily="2" charset="-79"/>
              </a:rPr>
              <a:t>Características desejáveis dos medicamentos/regimes anti-TB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cs typeface="Aharoni" panose="02010803020104030203" pitchFamily="2" charset="-79"/>
              </a:rPr>
              <a:t>Regimes de tratamento da TB sensível e resistente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cs typeface="Aharoni" panose="02010803020104030203" pitchFamily="2" charset="-79"/>
              </a:rPr>
              <a:t>Situações especiais</a:t>
            </a:r>
          </a:p>
          <a:p>
            <a:endParaRPr lang="en-ZA" sz="2400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xmlns="" id="{4DE15AA4-7196-4EDD-89C5-77009033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100084"/>
            <a:ext cx="1340928" cy="75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7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4B82D8-8781-4BA0-92F9-6AA89D15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774"/>
            <a:ext cx="10515599" cy="76809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Objectivos</a:t>
            </a:r>
            <a:r>
              <a:rPr lang="en-GB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 </a:t>
            </a:r>
            <a:r>
              <a:rPr lang="en-GB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aprendizagem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D54631E-9379-409B-8D24-58BD521D4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965" y="1246750"/>
            <a:ext cx="10515600" cy="57941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400" dirty="0"/>
              <a:t>No fim da unidade os participantes devem ser capazes de: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Conhecer os medicamentos para o tratamento da tuberculose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cs typeface="Calibri" panose="020F0502020204030204" pitchFamily="34" charset="0"/>
              </a:rPr>
              <a:t>Conhecer</a:t>
            </a:r>
            <a:r>
              <a:rPr lang="en-US" sz="2400" dirty="0">
                <a:cs typeface="Calibri" panose="020F0502020204030204" pitchFamily="34" charset="0"/>
              </a:rPr>
              <a:t> o </a:t>
            </a:r>
            <a:r>
              <a:rPr lang="en-US" sz="2400" dirty="0" err="1">
                <a:cs typeface="Calibri" panose="020F0502020204030204" pitchFamily="34" charset="0"/>
              </a:rPr>
              <a:t>mecanismo</a:t>
            </a:r>
            <a:r>
              <a:rPr lang="en-US" sz="2400" dirty="0">
                <a:cs typeface="Calibri" panose="020F0502020204030204" pitchFamily="34" charset="0"/>
              </a:rPr>
              <a:t> de </a:t>
            </a:r>
            <a:r>
              <a:rPr lang="en-US" sz="2400" dirty="0" err="1">
                <a:cs typeface="Calibri" panose="020F0502020204030204" pitchFamily="34" charset="0"/>
              </a:rPr>
              <a:t>acção</a:t>
            </a:r>
            <a:r>
              <a:rPr lang="en-US" sz="2400" dirty="0">
                <a:cs typeface="Calibri" panose="020F0502020204030204" pitchFamily="34" charset="0"/>
              </a:rPr>
              <a:t> dos </a:t>
            </a:r>
            <a:r>
              <a:rPr lang="en-US" sz="2400" dirty="0" err="1">
                <a:cs typeface="Calibri" panose="020F0502020204030204" pitchFamily="34" charset="0"/>
              </a:rPr>
              <a:t>medicamentos</a:t>
            </a:r>
            <a:r>
              <a:rPr lang="en-US" sz="2400" dirty="0">
                <a:cs typeface="Calibri" panose="020F0502020204030204" pitchFamily="34" charset="0"/>
              </a:rPr>
              <a:t> MAT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cs typeface="Calibri" panose="020F0502020204030204" pitchFamily="34" charset="0"/>
              </a:rPr>
              <a:t>Listar</a:t>
            </a:r>
            <a:r>
              <a:rPr lang="en-US" sz="2400" dirty="0">
                <a:cs typeface="Calibri" panose="020F0502020204030204" pitchFamily="34" charset="0"/>
              </a:rPr>
              <a:t> as </a:t>
            </a:r>
            <a:r>
              <a:rPr lang="en-US" sz="2400" dirty="0" err="1">
                <a:cs typeface="Calibri" panose="020F0502020204030204" pitchFamily="34" charset="0"/>
              </a:rPr>
              <a:t>características</a:t>
            </a:r>
            <a:r>
              <a:rPr lang="en-US" sz="2400" dirty="0">
                <a:cs typeface="Calibri" panose="020F0502020204030204" pitchFamily="34" charset="0"/>
              </a:rPr>
              <a:t> </a:t>
            </a:r>
            <a:r>
              <a:rPr lang="en-US" sz="2400" dirty="0" err="1">
                <a:cs typeface="Calibri" panose="020F0502020204030204" pitchFamily="34" charset="0"/>
              </a:rPr>
              <a:t>desejáveis</a:t>
            </a:r>
            <a:r>
              <a:rPr lang="en-US" sz="2400" dirty="0">
                <a:cs typeface="Calibri" panose="020F0502020204030204" pitchFamily="34" charset="0"/>
              </a:rPr>
              <a:t> dos </a:t>
            </a:r>
            <a:r>
              <a:rPr lang="en-US" sz="2400" dirty="0" err="1">
                <a:cs typeface="Calibri" panose="020F0502020204030204" pitchFamily="34" charset="0"/>
              </a:rPr>
              <a:t>medicamentos</a:t>
            </a:r>
            <a:r>
              <a:rPr lang="en-US" sz="2400" dirty="0">
                <a:cs typeface="Calibri" panose="020F0502020204030204" pitchFamily="34" charset="0"/>
              </a:rPr>
              <a:t>/regimes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Conhecer o regime de tratamento em uso para TB sensivel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cs typeface="Calibri" panose="020F0502020204030204" pitchFamily="34" charset="0"/>
              </a:rPr>
              <a:t>Classificar</a:t>
            </a:r>
            <a:r>
              <a:rPr lang="en-US" sz="2400" dirty="0">
                <a:cs typeface="Calibri" panose="020F0502020204030204" pitchFamily="34" charset="0"/>
              </a:rPr>
              <a:t> </a:t>
            </a:r>
            <a:r>
              <a:rPr lang="en-US" sz="2400" dirty="0" err="1">
                <a:cs typeface="Calibri" panose="020F0502020204030204" pitchFamily="34" charset="0"/>
              </a:rPr>
              <a:t>os</a:t>
            </a:r>
            <a:r>
              <a:rPr lang="en-US" sz="2400" dirty="0">
                <a:cs typeface="Calibri" panose="020F0502020204030204" pitchFamily="34" charset="0"/>
              </a:rPr>
              <a:t> </a:t>
            </a:r>
            <a:r>
              <a:rPr lang="en-US" sz="2400" dirty="0" err="1">
                <a:cs typeface="Calibri" panose="020F0502020204030204" pitchFamily="34" charset="0"/>
              </a:rPr>
              <a:t>tipos</a:t>
            </a:r>
            <a:r>
              <a:rPr lang="en-US" sz="2400" dirty="0">
                <a:cs typeface="Calibri" panose="020F0502020204030204" pitchFamily="34" charset="0"/>
              </a:rPr>
              <a:t> de TB </a:t>
            </a:r>
            <a:r>
              <a:rPr lang="en-US" sz="2400" dirty="0" err="1">
                <a:cs typeface="Calibri" panose="020F0502020204030204" pitchFamily="34" charset="0"/>
              </a:rPr>
              <a:t>segundo</a:t>
            </a:r>
            <a:r>
              <a:rPr lang="en-US" sz="2400" dirty="0">
                <a:cs typeface="Calibri" panose="020F0502020204030204" pitchFamily="34" charset="0"/>
              </a:rPr>
              <a:t> o </a:t>
            </a:r>
            <a:r>
              <a:rPr lang="en-US" sz="2400" dirty="0" err="1">
                <a:cs typeface="Calibri" panose="020F0502020204030204" pitchFamily="34" charset="0"/>
              </a:rPr>
              <a:t>padrao</a:t>
            </a:r>
            <a:r>
              <a:rPr lang="en-US" sz="2400" dirty="0">
                <a:cs typeface="Calibri" panose="020F0502020204030204" pitchFamily="34" charset="0"/>
              </a:rPr>
              <a:t> de </a:t>
            </a:r>
            <a:r>
              <a:rPr lang="en-US" sz="2400" dirty="0" err="1">
                <a:cs typeface="Calibri" panose="020F0502020204030204" pitchFamily="34" charset="0"/>
              </a:rPr>
              <a:t>resistencia</a:t>
            </a:r>
            <a:endParaRPr lang="en-US" sz="2400" dirty="0"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dirty="0"/>
              <a:t>Conhecer os regimes de tratamento em uso e actualmente recomendados pela OMS para o tratamento da TB resistente</a:t>
            </a:r>
          </a:p>
          <a:p>
            <a:endParaRPr lang="pt-PT" sz="1600" dirty="0"/>
          </a:p>
          <a:p>
            <a:endParaRPr lang="en-ZA" sz="1600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xmlns="" id="{4DE15AA4-7196-4EDD-89C5-77009033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7788"/>
            <a:ext cx="1340928" cy="75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0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8E9A44-9271-6D09-7DA3-80AEE8A6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9" y="280525"/>
            <a:ext cx="10909715" cy="68643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Introdução</a:t>
            </a:r>
            <a:endParaRPr lang="en-US" sz="3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D54F68-A879-4D4D-80CB-8B2965976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39" y="1374983"/>
            <a:ext cx="10909716" cy="48592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pt-BR" sz="2400" dirty="0"/>
              <a:t>O tratamento da tuberculose é fundamental para o alcance dos resultados do país e a nível global no controlo da tuberculose.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O </a:t>
            </a:r>
            <a:r>
              <a:rPr lang="en-US" sz="2400" dirty="0" err="1"/>
              <a:t>seu</a:t>
            </a:r>
            <a:r>
              <a:rPr lang="en-US" sz="2400" dirty="0"/>
              <a:t> </a:t>
            </a:r>
            <a:r>
              <a:rPr lang="en-US" sz="2400" dirty="0" err="1"/>
              <a:t>sucesso</a:t>
            </a:r>
            <a:r>
              <a:rPr lang="en-US" sz="2400" dirty="0"/>
              <a:t> </a:t>
            </a:r>
            <a:r>
              <a:rPr lang="en-US" sz="2400" dirty="0" err="1"/>
              <a:t>depende</a:t>
            </a:r>
            <a:r>
              <a:rPr lang="en-US" sz="2400" dirty="0"/>
              <a:t> de </a:t>
            </a:r>
            <a:r>
              <a:rPr lang="en-US" sz="2400" dirty="0" err="1"/>
              <a:t>varios</a:t>
            </a:r>
            <a:r>
              <a:rPr lang="en-US" sz="2400" dirty="0"/>
              <a:t> </a:t>
            </a:r>
            <a:r>
              <a:rPr lang="en-US" sz="2400" dirty="0" err="1"/>
              <a:t>factores</a:t>
            </a:r>
            <a:r>
              <a:rPr lang="en-US" sz="2400" dirty="0"/>
              <a:t>:</a:t>
            </a:r>
          </a:p>
          <a:p>
            <a:pPr lvl="1"/>
            <a:r>
              <a:rPr lang="pt-BR" dirty="0"/>
              <a:t>    Diagnóstico precoce</a:t>
            </a:r>
          </a:p>
          <a:p>
            <a:pPr lvl="1"/>
            <a:r>
              <a:rPr lang="pt-BR" dirty="0"/>
              <a:t>    Conhecimento do perfil de sensibilidade aos fármacos</a:t>
            </a:r>
          </a:p>
          <a:p>
            <a:pPr lvl="1"/>
            <a:r>
              <a:rPr lang="pt-BR" dirty="0"/>
              <a:t>    Disponibilidade de medicamentos</a:t>
            </a:r>
          </a:p>
          <a:p>
            <a:pPr lvl="1"/>
            <a:r>
              <a:rPr lang="pt-BR" dirty="0"/>
              <a:t>    Disponibilidade de meios para monitoria do paciente</a:t>
            </a:r>
          </a:p>
          <a:p>
            <a:pPr lvl="1"/>
            <a:r>
              <a:rPr lang="pt-BR" dirty="0"/>
              <a:t>    Capacidade técnica</a:t>
            </a:r>
          </a:p>
          <a:p>
            <a:pPr lvl="1"/>
            <a:r>
              <a:rPr lang="pt-BR" dirty="0"/>
              <a:t>    Comprometimento</a:t>
            </a:r>
          </a:p>
          <a:p>
            <a:pPr lvl="1"/>
            <a:r>
              <a:rPr lang="pt-BR" dirty="0"/>
              <a:t>    Informação do paciente sobre a doença, e a sua componente social.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4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1FAE53-6B5B-C83F-99B4-6F981989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365125"/>
            <a:ext cx="10866120" cy="7961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000" dirty="0" err="1">
                <a:latin typeface="Aharoni" panose="02010803020104030203" pitchFamily="2" charset="-79"/>
                <a:cs typeface="Aharoni" panose="02010803020104030203" pitchFamily="2" charset="-79"/>
              </a:rPr>
              <a:t>Medicamentos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 para o </a:t>
            </a:r>
            <a:r>
              <a:rPr lang="en-US" sz="4000" dirty="0" err="1">
                <a:latin typeface="Aharoni" panose="02010803020104030203" pitchFamily="2" charset="-79"/>
                <a:cs typeface="Aharoni" panose="02010803020104030203" pitchFamily="2" charset="-79"/>
              </a:rPr>
              <a:t>tratamento</a:t>
            </a:r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 da 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8AAC7A-19BD-25B3-2893-835AD07C4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704" y="1386713"/>
            <a:ext cx="5870448" cy="494156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 dirty="0" err="1"/>
              <a:t>Medicamentos</a:t>
            </a:r>
            <a:r>
              <a:rPr lang="en-US" u="sng" dirty="0"/>
              <a:t> de 2a </a:t>
            </a:r>
            <a:r>
              <a:rPr lang="en-US" u="sng" dirty="0" err="1"/>
              <a:t>linha</a:t>
            </a:r>
            <a:endParaRPr lang="en-US" u="sng" dirty="0"/>
          </a:p>
          <a:p>
            <a:pPr marL="0" indent="0" algn="ctr">
              <a:buNone/>
            </a:pPr>
            <a:endParaRPr lang="en-US" sz="100" b="1" u="sng" dirty="0"/>
          </a:p>
          <a:p>
            <a:r>
              <a:rPr lang="en-US" sz="2200" dirty="0"/>
              <a:t>FLQ: </a:t>
            </a:r>
            <a:r>
              <a:rPr lang="en-US" sz="2200" dirty="0" err="1"/>
              <a:t>Levofloxacina</a:t>
            </a:r>
            <a:r>
              <a:rPr lang="en-US" sz="2200" dirty="0"/>
              <a:t>(</a:t>
            </a:r>
            <a:r>
              <a:rPr lang="en-US" sz="2200" dirty="0" err="1"/>
              <a:t>Lfx</a:t>
            </a:r>
            <a:r>
              <a:rPr lang="en-US" sz="2200" dirty="0"/>
              <a:t>), </a:t>
            </a:r>
            <a:r>
              <a:rPr lang="en-US" sz="2200" dirty="0" err="1"/>
              <a:t>Moxifloxacina</a:t>
            </a:r>
            <a:r>
              <a:rPr lang="en-US" sz="2200" dirty="0"/>
              <a:t> (</a:t>
            </a:r>
            <a:r>
              <a:rPr lang="en-US" sz="2200" dirty="0" err="1"/>
              <a:t>Mfx</a:t>
            </a:r>
            <a:r>
              <a:rPr lang="en-US" sz="2200" dirty="0"/>
              <a:t>)</a:t>
            </a:r>
          </a:p>
          <a:p>
            <a:r>
              <a:rPr lang="en-US" sz="2200" dirty="0"/>
              <a:t>INJ: </a:t>
            </a:r>
            <a:r>
              <a:rPr lang="en-US" sz="2200" dirty="0" err="1"/>
              <a:t>Amikacina</a:t>
            </a:r>
            <a:r>
              <a:rPr lang="en-US" sz="2200" dirty="0"/>
              <a:t>, </a:t>
            </a:r>
            <a:r>
              <a:rPr lang="en-US" sz="2200" dirty="0" err="1"/>
              <a:t>Capreomicina</a:t>
            </a:r>
            <a:r>
              <a:rPr lang="en-US" sz="2200" dirty="0"/>
              <a:t> (Cm),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</a:rPr>
              <a:t>Kanamicina</a:t>
            </a:r>
            <a:endParaRPr lang="en-US" sz="2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200" dirty="0" err="1"/>
              <a:t>Bedaquilina</a:t>
            </a:r>
            <a:r>
              <a:rPr lang="en-US" sz="2200" dirty="0"/>
              <a:t> (</a:t>
            </a:r>
            <a:r>
              <a:rPr lang="en-US" sz="2200" dirty="0" err="1"/>
              <a:t>Bdq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Linezolida</a:t>
            </a:r>
            <a:r>
              <a:rPr lang="en-US" sz="2200" dirty="0"/>
              <a:t> (</a:t>
            </a:r>
            <a:r>
              <a:rPr lang="en-US" sz="2200" dirty="0" err="1"/>
              <a:t>Lzd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Delamanida</a:t>
            </a:r>
            <a:r>
              <a:rPr lang="en-US" sz="2200" dirty="0"/>
              <a:t> (</a:t>
            </a:r>
            <a:r>
              <a:rPr lang="en-US" sz="2200" dirty="0" err="1"/>
              <a:t>Dlm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Cicloserina</a:t>
            </a:r>
            <a:r>
              <a:rPr lang="en-US" sz="2200" dirty="0"/>
              <a:t> (Cs)/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</a:rPr>
              <a:t>Terizidona</a:t>
            </a:r>
            <a:endParaRPr lang="en-US" sz="2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200" dirty="0" err="1"/>
              <a:t>Proteonamida</a:t>
            </a:r>
            <a:r>
              <a:rPr lang="en-US" sz="2200" dirty="0"/>
              <a:t> (</a:t>
            </a:r>
            <a:r>
              <a:rPr lang="en-US" sz="2200" dirty="0" err="1"/>
              <a:t>Pto</a:t>
            </a:r>
            <a:r>
              <a:rPr lang="en-US" sz="2200" dirty="0"/>
              <a:t>)/</a:t>
            </a:r>
            <a:r>
              <a:rPr lang="en-US" sz="2200" dirty="0" err="1"/>
              <a:t>Etionamida</a:t>
            </a:r>
            <a:r>
              <a:rPr lang="en-US" sz="2200" dirty="0"/>
              <a:t> (</a:t>
            </a:r>
            <a:r>
              <a:rPr lang="en-US" sz="2200" dirty="0" err="1"/>
              <a:t>Eto</a:t>
            </a:r>
            <a:r>
              <a:rPr lang="en-US" sz="2200" dirty="0"/>
              <a:t>)</a:t>
            </a:r>
          </a:p>
          <a:p>
            <a:r>
              <a:rPr lang="en-US" sz="2200" dirty="0" err="1"/>
              <a:t>Acido</a:t>
            </a:r>
            <a:r>
              <a:rPr lang="en-US" sz="2200" dirty="0"/>
              <a:t> Para-amino </a:t>
            </a:r>
            <a:r>
              <a:rPr lang="en-US" sz="2200" dirty="0" err="1"/>
              <a:t>salicilico</a:t>
            </a:r>
            <a:r>
              <a:rPr lang="en-US" sz="2200" dirty="0"/>
              <a:t> (PAS)</a:t>
            </a:r>
          </a:p>
          <a:p>
            <a:r>
              <a:rPr lang="en-US" sz="2200" dirty="0"/>
              <a:t>Imipenem (Imp)</a:t>
            </a:r>
          </a:p>
          <a:p>
            <a:r>
              <a:rPr lang="en-US" sz="2400" b="1" dirty="0" err="1">
                <a:solidFill>
                  <a:srgbClr val="C00000"/>
                </a:solidFill>
              </a:rPr>
              <a:t>Pretomanida</a:t>
            </a:r>
            <a:r>
              <a:rPr lang="en-US" sz="2400" b="1" dirty="0">
                <a:solidFill>
                  <a:srgbClr val="C00000"/>
                </a:solidFill>
              </a:rPr>
              <a:t> (Pa)</a:t>
            </a:r>
          </a:p>
          <a:p>
            <a:endParaRPr lang="en-US" sz="2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endParaRPr lang="en-US" b="1" u="sn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8775B522-4589-2D9C-2C3A-DF78348BB064}"/>
              </a:ext>
            </a:extLst>
          </p:cNvPr>
          <p:cNvSpPr txBox="1">
            <a:spLocks/>
          </p:cNvSpPr>
          <p:nvPr/>
        </p:nvSpPr>
        <p:spPr>
          <a:xfrm>
            <a:off x="195072" y="1386711"/>
            <a:ext cx="5309616" cy="4941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u="sng" dirty="0" err="1"/>
              <a:t>Medicamentos</a:t>
            </a:r>
            <a:r>
              <a:rPr lang="en-US" u="sng" dirty="0"/>
              <a:t> de 1a </a:t>
            </a:r>
            <a:r>
              <a:rPr lang="en-US" u="sng" dirty="0" err="1"/>
              <a:t>linha</a:t>
            </a:r>
            <a:endParaRPr lang="en-US" u="sng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b="1" u="sng" dirty="0"/>
          </a:p>
          <a:p>
            <a:pPr>
              <a:buSzPct val="80000"/>
            </a:pPr>
            <a:r>
              <a:rPr lang="en-US" sz="2600" dirty="0" err="1"/>
              <a:t>Isoniazida</a:t>
            </a:r>
            <a:r>
              <a:rPr lang="en-US" sz="2600" dirty="0"/>
              <a:t> (H)</a:t>
            </a:r>
          </a:p>
          <a:p>
            <a:pPr>
              <a:buSzPct val="80000"/>
            </a:pPr>
            <a:r>
              <a:rPr lang="en-US" sz="2600" dirty="0" err="1"/>
              <a:t>Rifampicina</a:t>
            </a:r>
            <a:r>
              <a:rPr lang="en-US" sz="2600" dirty="0"/>
              <a:t> (R)</a:t>
            </a:r>
          </a:p>
          <a:p>
            <a:pPr>
              <a:buSzPct val="80000"/>
            </a:pPr>
            <a:r>
              <a:rPr lang="en-US" sz="2600" dirty="0" err="1"/>
              <a:t>Etambutol</a:t>
            </a:r>
            <a:r>
              <a:rPr lang="en-US" sz="2600" dirty="0"/>
              <a:t> (E)</a:t>
            </a:r>
          </a:p>
          <a:p>
            <a:pPr>
              <a:buSzPct val="80000"/>
            </a:pPr>
            <a:r>
              <a:rPr lang="en-US" sz="2600" dirty="0" err="1"/>
              <a:t>Pirazinamida</a:t>
            </a:r>
            <a:r>
              <a:rPr lang="en-US" sz="2600" dirty="0"/>
              <a:t> (Z)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A792B14-2CAC-57FF-1188-C84765DD9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0" y="3429000"/>
            <a:ext cx="2310395" cy="1934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65FDFCB-4C7B-1687-1ABA-966B041D0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5163439"/>
            <a:ext cx="2249424" cy="1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3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" y="1536192"/>
            <a:ext cx="9810750" cy="4594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1" name="1 Rectángulo"/>
          <p:cNvSpPr>
            <a:spLocks noChangeArrowheads="1"/>
          </p:cNvSpPr>
          <p:nvPr/>
        </p:nvSpPr>
        <p:spPr bwMode="auto">
          <a:xfrm>
            <a:off x="1847850" y="6396652"/>
            <a:ext cx="84963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s-ES" altLang="pt-PT" sz="1244" dirty="0">
                <a:latin typeface="Calibri" panose="020F0502020204030204" pitchFamily="34" charset="0"/>
                <a:cs typeface="Arial" panose="020B0604020202020204" pitchFamily="34" charset="0"/>
              </a:rPr>
              <a:t>Olaru ID, et al. Eur Respir J 2014. </a:t>
            </a:r>
            <a:r>
              <a:rPr lang="en-US" altLang="pt-PT" sz="1244" dirty="0" err="1">
                <a:latin typeface="Calibri" panose="020F0502020204030204" pitchFamily="34" charset="0"/>
                <a:cs typeface="Arial" panose="020B0604020202020204" pitchFamily="34" charset="0"/>
              </a:rPr>
              <a:t>ERJ</a:t>
            </a:r>
            <a:r>
              <a:rPr lang="en-US" altLang="pt-PT" sz="1244" dirty="0">
                <a:latin typeface="Calibri" panose="020F0502020204030204" pitchFamily="34" charset="0"/>
                <a:cs typeface="Arial" panose="020B0604020202020204" pitchFamily="34" charset="0"/>
              </a:rPr>
              <a:t> Express. Published on November 27, 2014 as </a:t>
            </a:r>
            <a:r>
              <a:rPr lang="en-US" altLang="pt-PT" sz="1244" dirty="0" err="1">
                <a:latin typeface="Calibri" panose="020F0502020204030204" pitchFamily="34" charset="0"/>
                <a:cs typeface="Arial" panose="020B0604020202020204" pitchFamily="34" charset="0"/>
              </a:rPr>
              <a:t>doi</a:t>
            </a:r>
            <a:r>
              <a:rPr lang="en-US" altLang="pt-PT" sz="1244" dirty="0">
                <a:latin typeface="Calibri" panose="020F0502020204030204" pitchFamily="34" charset="0"/>
                <a:cs typeface="Arial" panose="020B0604020202020204" pitchFamily="34" charset="0"/>
              </a:rPr>
              <a:t>: 0.1183/09031936.00162314</a:t>
            </a:r>
            <a:endParaRPr lang="es-ES" altLang="pt-PT" sz="1244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90625" y="250506"/>
            <a:ext cx="9810750" cy="663894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US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Mecanismo</a:t>
            </a: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 acção dos </a:t>
            </a:r>
            <a:r>
              <a:rPr lang="en-US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medicamento</a:t>
            </a: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Anti-TB 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xmlns="" id="{E21A9424-ED72-4302-9FE2-6298536FE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3" name="Wave 2">
            <a:extLst>
              <a:ext uri="{FF2B5EF4-FFF2-40B4-BE49-F238E27FC236}">
                <a16:creationId xmlns:a16="http://schemas.microsoft.com/office/drawing/2014/main" xmlns="" id="{8D23DBC9-47B3-5EA2-73ED-A7AB7143D02E}"/>
              </a:ext>
            </a:extLst>
          </p:cNvPr>
          <p:cNvSpPr/>
          <p:nvPr/>
        </p:nvSpPr>
        <p:spPr>
          <a:xfrm>
            <a:off x="9457182" y="1270592"/>
            <a:ext cx="2503170" cy="1356360"/>
          </a:xfrm>
          <a:prstGeom prst="wav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Novo: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Pretomanida</a:t>
            </a:r>
            <a:r>
              <a:rPr lang="en-US" sz="2400" b="1" dirty="0">
                <a:solidFill>
                  <a:srgbClr val="FF0000"/>
                </a:solidFill>
              </a:rPr>
              <a:t>(Pa)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xmlns="" id="{F0A62B88-2958-3C8A-3594-6FCB2EFB7525}"/>
              </a:ext>
            </a:extLst>
          </p:cNvPr>
          <p:cNvSpPr/>
          <p:nvPr/>
        </p:nvSpPr>
        <p:spPr>
          <a:xfrm rot="1996534" flipH="1">
            <a:off x="10261865" y="2730100"/>
            <a:ext cx="534899" cy="53174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36D60B0-627A-12FA-D194-FAF418953DC6}"/>
              </a:ext>
            </a:extLst>
          </p:cNvPr>
          <p:cNvSpPr txBox="1"/>
          <p:nvPr/>
        </p:nvSpPr>
        <p:spPr>
          <a:xfrm>
            <a:off x="9598574" y="3493008"/>
            <a:ext cx="2105746" cy="6102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Inibe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síntese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 </a:t>
            </a: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parede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celular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CEEF809-8E74-BE57-6BF6-AB693FF2A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1957" y="2694522"/>
            <a:ext cx="854753" cy="44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4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100584"/>
            <a:ext cx="10661904" cy="91440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desejáveis dos medicamentos </a:t>
            </a:r>
            <a:br>
              <a:rPr lang="pt-PT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compor os regimes anti-TB</a:t>
            </a:r>
            <a:endParaRPr lang="en-ZA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13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Actividade</a:t>
            </a:r>
            <a:r>
              <a:rPr lang="en-US" sz="2700" b="1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bactericida</a:t>
            </a:r>
            <a:r>
              <a:rPr lang="en-US" sz="2700" b="1" dirty="0">
                <a:latin typeface="Calibri" pitchFamily="34" charset="0"/>
                <a:cs typeface="Times New Roman" panose="02020603050405020304" pitchFamily="18" charset="0"/>
              </a:rPr>
              <a:t>: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Capacidade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reduzir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rapidamente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o volume de 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bacilos</a:t>
            </a:r>
            <a:endParaRPr lang="en-US" sz="27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Actividade</a:t>
            </a:r>
            <a:r>
              <a:rPr lang="en-US" sz="2700" b="1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esterilizante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: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Capacidade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eliminar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os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bacilos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dormentes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ou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com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multiplicação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intermitente</a:t>
            </a:r>
            <a:endParaRPr lang="en-US" sz="27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Toxicidade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: minima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possível</a:t>
            </a:r>
            <a:endParaRPr lang="en-US" sz="2700" dirty="0">
              <a:latin typeface="Calibri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Prevenção</a:t>
            </a:r>
            <a:r>
              <a:rPr lang="en-US" sz="2700" b="1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b="1" dirty="0" err="1">
                <a:latin typeface="Calibri" pitchFamily="34" charset="0"/>
                <a:cs typeface="Times New Roman" panose="02020603050405020304" pitchFamily="18" charset="0"/>
              </a:rPr>
              <a:t>resistência</a:t>
            </a:r>
            <a:r>
              <a:rPr lang="en-US" sz="2700" b="1" dirty="0">
                <a:latin typeface="Calibri" pitchFamily="34" charset="0"/>
                <a:cs typeface="Times New Roman" panose="02020603050405020304" pitchFamily="18" charset="0"/>
              </a:rPr>
              <a:t>: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Uso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combinações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medicamentos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activos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que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evitem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a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amplificação</a:t>
            </a:r>
            <a:r>
              <a:rPr lang="en-US" sz="2700" dirty="0">
                <a:latin typeface="Calibri" pitchFamily="34" charset="0"/>
                <a:cs typeface="Times New Roman" panose="02020603050405020304" pitchFamily="18" charset="0"/>
              </a:rPr>
              <a:t> de </a:t>
            </a:r>
            <a:r>
              <a:rPr lang="en-US" sz="2700" dirty="0" err="1">
                <a:latin typeface="Calibri" pitchFamily="34" charset="0"/>
                <a:cs typeface="Times New Roman" panose="02020603050405020304" pitchFamily="18" charset="0"/>
              </a:rPr>
              <a:t>resistências</a:t>
            </a:r>
            <a:endParaRPr lang="en-US" sz="2700" dirty="0">
              <a:latin typeface="Calibri" pitchFamily="34" charset="0"/>
            </a:endParaRPr>
          </a:p>
          <a:p>
            <a:endParaRPr lang="en-ZA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12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81445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Princípios gerais do tratamento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1395857"/>
            <a:ext cx="10515600" cy="4351338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s-ES_tradnl" altLang="pt-PT" sz="2500" b="1" dirty="0" err="1">
                <a:latin typeface="Calibri" panose="020F0502020204030204" pitchFamily="34" charset="0"/>
              </a:rPr>
              <a:t>Associação</a:t>
            </a:r>
            <a:r>
              <a:rPr lang="es-ES_tradnl" altLang="pt-PT" sz="2500" b="1" dirty="0">
                <a:latin typeface="Calibri" panose="020F0502020204030204" pitchFamily="34" charset="0"/>
              </a:rPr>
              <a:t> de medicamentos: </a:t>
            </a:r>
          </a:p>
          <a:p>
            <a:pPr marL="1085850" lvl="1" indent="-342900"/>
            <a:r>
              <a:rPr lang="es-ES_tradnl" altLang="pt-PT" sz="2500" dirty="0">
                <a:latin typeface="Calibri" panose="020F0502020204030204" pitchFamily="34" charset="0"/>
              </a:rPr>
              <a:t>Pelo menos 4 medicamentos</a:t>
            </a:r>
          </a:p>
          <a:p>
            <a:pPr marL="1085850" lvl="1" indent="-342900"/>
            <a:r>
              <a:rPr lang="es-ES_tradnl" altLang="pt-PT" sz="2500" dirty="0">
                <a:latin typeface="Calibri" panose="020F0502020204030204" pitchFamily="34" charset="0"/>
              </a:rPr>
              <a:t>Previne o </a:t>
            </a:r>
            <a:r>
              <a:rPr lang="es-ES_tradnl" altLang="pt-PT" sz="2500" dirty="0" err="1">
                <a:latin typeface="Calibri" panose="020F0502020204030204" pitchFamily="34" charset="0"/>
              </a:rPr>
              <a:t>surgimento</a:t>
            </a:r>
            <a:r>
              <a:rPr lang="es-ES_tradnl" altLang="pt-PT" sz="2500" dirty="0">
                <a:latin typeface="Calibri" panose="020F0502020204030204" pitchFamily="34" charset="0"/>
              </a:rPr>
              <a:t> de </a:t>
            </a:r>
            <a:r>
              <a:rPr lang="es-ES_tradnl" altLang="pt-PT" sz="2500" dirty="0" err="1">
                <a:latin typeface="Calibri" panose="020F0502020204030204" pitchFamily="34" charset="0"/>
              </a:rPr>
              <a:t>resistências</a:t>
            </a:r>
            <a:endParaRPr lang="es-ES_tradnl" altLang="pt-PT" sz="2500" dirty="0">
              <a:latin typeface="Calibri" panose="020F0502020204030204" pitchFamily="34" charset="0"/>
            </a:endParaRPr>
          </a:p>
          <a:p>
            <a:pPr marL="1085850" lvl="1" indent="-342900"/>
            <a:r>
              <a:rPr lang="es-ES_tradnl" altLang="pt-PT" sz="2500" dirty="0">
                <a:latin typeface="Calibri" panose="020F0502020204030204" pitchFamily="34" charset="0"/>
              </a:rPr>
              <a:t>Evita a </a:t>
            </a:r>
            <a:r>
              <a:rPr lang="es-ES_tradnl" altLang="pt-PT" sz="2500" dirty="0" err="1">
                <a:latin typeface="Calibri" panose="020F0502020204030204" pitchFamily="34" charset="0"/>
              </a:rPr>
              <a:t>selecção</a:t>
            </a:r>
            <a:r>
              <a:rPr lang="es-ES_tradnl" altLang="pt-PT" sz="2500" dirty="0">
                <a:latin typeface="Calibri" panose="020F0502020204030204" pitchFamily="34" charset="0"/>
              </a:rPr>
              <a:t> de mutantes resistentes</a:t>
            </a:r>
          </a:p>
          <a:p>
            <a:pPr marL="742950" lvl="1" indent="0">
              <a:buNone/>
            </a:pPr>
            <a:endParaRPr lang="es-ES_tradnl" altLang="pt-PT" sz="2500" b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s-ES_tradnl" sz="2500" b="1" dirty="0">
                <a:latin typeface="Calibri" panose="020F0502020204030204" pitchFamily="34" charset="0"/>
              </a:rPr>
              <a:t>2. </a:t>
            </a:r>
            <a:r>
              <a:rPr lang="es-ES_tradnl" sz="2500" b="1" dirty="0" err="1">
                <a:latin typeface="Calibri" panose="020F0502020204030204" pitchFamily="34" charset="0"/>
              </a:rPr>
              <a:t>Tratamento</a:t>
            </a:r>
            <a:r>
              <a:rPr lang="es-ES_tradnl" sz="2500" b="1" dirty="0">
                <a:latin typeface="Calibri" panose="020F0502020204030204" pitchFamily="34" charset="0"/>
              </a:rPr>
              <a:t> Prolongado: </a:t>
            </a:r>
          </a:p>
          <a:p>
            <a:pPr lvl="1"/>
            <a:r>
              <a:rPr lang="es-ES_tradnl" altLang="pt-PT" sz="2500" dirty="0">
                <a:latin typeface="Calibri" panose="020F0502020204030204" pitchFamily="34" charset="0"/>
              </a:rPr>
              <a:t>Permite a </a:t>
            </a:r>
            <a:r>
              <a:rPr lang="es-ES_tradnl" altLang="pt-PT" sz="2500" dirty="0" err="1">
                <a:latin typeface="Calibri" panose="020F0502020204030204" pitchFamily="34" charset="0"/>
              </a:rPr>
              <a:t>acção</a:t>
            </a:r>
            <a:r>
              <a:rPr lang="es-ES_tradnl" altLang="pt-PT" sz="2500" dirty="0">
                <a:latin typeface="Calibri" panose="020F0502020204030204" pitchFamily="34" charset="0"/>
              </a:rPr>
              <a:t> dos medicamentos sobre todas as </a:t>
            </a:r>
            <a:r>
              <a:rPr lang="es-ES_tradnl" altLang="pt-PT" sz="2500" b="1" dirty="0" err="1">
                <a:latin typeface="Calibri" panose="020F0502020204030204" pitchFamily="34" charset="0"/>
              </a:rPr>
              <a:t>populações</a:t>
            </a:r>
            <a:r>
              <a:rPr lang="es-ES_tradnl" altLang="pt-PT" sz="2500" b="1" dirty="0">
                <a:latin typeface="Calibri" panose="020F0502020204030204" pitchFamily="34" charset="0"/>
              </a:rPr>
              <a:t> bacilares </a:t>
            </a:r>
          </a:p>
          <a:p>
            <a:pPr marL="457200" lvl="1" indent="0">
              <a:buNone/>
            </a:pPr>
            <a:endParaRPr lang="es-ES_tradnl" altLang="pt-PT" sz="2500" b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s-ES_tradnl" altLang="pt-PT" sz="2500" b="1" dirty="0">
                <a:latin typeface="Calibri" panose="020F0502020204030204" pitchFamily="34" charset="0"/>
              </a:rPr>
              <a:t>3. </a:t>
            </a:r>
            <a:r>
              <a:rPr lang="es-ES_tradnl" altLang="pt-PT" sz="2500" b="1" dirty="0" err="1">
                <a:latin typeface="Calibri" panose="020F0502020204030204" pitchFamily="34" charset="0"/>
              </a:rPr>
              <a:t>Administração</a:t>
            </a:r>
            <a:r>
              <a:rPr lang="es-ES_tradnl" altLang="pt-PT" sz="2500" b="1" dirty="0">
                <a:latin typeface="Calibri" panose="020F0502020204030204" pitchFamily="34" charset="0"/>
              </a:rPr>
              <a:t> em toma única </a:t>
            </a:r>
            <a:r>
              <a:rPr lang="es-ES_tradnl" altLang="pt-PT" sz="2500" b="1" dirty="0" err="1">
                <a:latin typeface="Calibri" panose="020F0502020204030204" pitchFamily="34" charset="0"/>
              </a:rPr>
              <a:t>diária</a:t>
            </a:r>
            <a:r>
              <a:rPr lang="es-ES_tradnl" altLang="pt-PT" sz="2500" b="1" dirty="0">
                <a:latin typeface="Calibri" panose="020F0502020204030204" pitchFamily="34" charset="0"/>
              </a:rPr>
              <a:t>: </a:t>
            </a:r>
          </a:p>
          <a:p>
            <a:pPr lvl="1"/>
            <a:r>
              <a:rPr lang="es-ES_tradnl" altLang="pt-PT" sz="2500" dirty="0">
                <a:latin typeface="Calibri" panose="020F0502020204030204" pitchFamily="34" charset="0"/>
              </a:rPr>
              <a:t>Atinge picos séricos, </a:t>
            </a:r>
            <a:r>
              <a:rPr lang="es-ES_tradnl" altLang="pt-PT" sz="2500" dirty="0" err="1">
                <a:latin typeface="Calibri" panose="020F0502020204030204" pitchFamily="34" charset="0"/>
              </a:rPr>
              <a:t>efeito</a:t>
            </a:r>
            <a:r>
              <a:rPr lang="es-ES_tradnl" altLang="pt-PT" sz="2500" dirty="0">
                <a:latin typeface="Calibri" panose="020F0502020204030204" pitchFamily="34" charset="0"/>
              </a:rPr>
              <a:t> </a:t>
            </a:r>
            <a:r>
              <a:rPr lang="es-ES_tradnl" altLang="pt-PT" sz="2500" dirty="0" err="1">
                <a:latin typeface="Calibri" panose="020F0502020204030204" pitchFamily="34" charset="0"/>
              </a:rPr>
              <a:t>pós</a:t>
            </a:r>
            <a:r>
              <a:rPr lang="es-ES_tradnl" altLang="pt-PT" sz="2500" dirty="0">
                <a:latin typeface="Calibri" panose="020F0502020204030204" pitchFamily="34" charset="0"/>
              </a:rPr>
              <a:t>-antibiótico, </a:t>
            </a:r>
          </a:p>
          <a:p>
            <a:pPr lvl="1"/>
            <a:r>
              <a:rPr lang="es-ES_tradnl" altLang="pt-PT" sz="2500" dirty="0">
                <a:latin typeface="Calibri" panose="020F0502020204030204" pitchFamily="34" charset="0"/>
              </a:rPr>
              <a:t>Facilita </a:t>
            </a:r>
            <a:r>
              <a:rPr lang="es-ES_tradnl" altLang="pt-PT" sz="2500" dirty="0" err="1">
                <a:latin typeface="Calibri" panose="020F0502020204030204" pitchFamily="34" charset="0"/>
              </a:rPr>
              <a:t>supervisão</a:t>
            </a:r>
            <a:r>
              <a:rPr lang="es-ES_tradnl" altLang="pt-PT" sz="2500" dirty="0">
                <a:latin typeface="Calibri" panose="020F0502020204030204" pitchFamily="34" charset="0"/>
              </a:rPr>
              <a:t> da toma</a:t>
            </a:r>
          </a:p>
          <a:p>
            <a:pPr marL="457200" lvl="1" indent="0">
              <a:buNone/>
            </a:pPr>
            <a:endParaRPr lang="es-ES_tradnl" dirty="0">
              <a:latin typeface="Calibri" panose="020F0502020204030204" pitchFamily="34" charset="0"/>
            </a:endParaRPr>
          </a:p>
          <a:p>
            <a:endParaRPr lang="en-ZA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6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0" y="667512"/>
            <a:ext cx="5018272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D95867-38B8-9116-578C-72E171145F69}"/>
              </a:ext>
            </a:extLst>
          </p:cNvPr>
          <p:cNvSpPr txBox="1"/>
          <p:nvPr/>
        </p:nvSpPr>
        <p:spPr>
          <a:xfrm>
            <a:off x="5150358" y="2698253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Sensível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24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743200" y="1284303"/>
            <a:ext cx="2743200" cy="3657600"/>
          </a:xfrm>
          <a:prstGeom prst="rect">
            <a:avLst/>
          </a:prstGeom>
          <a:solidFill>
            <a:schemeClr val="bg1"/>
          </a:solidFill>
          <a:ln w="5715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619783" y="1284302"/>
            <a:ext cx="2743200" cy="3657599"/>
          </a:xfrm>
          <a:prstGeom prst="rect">
            <a:avLst/>
          </a:prstGeom>
          <a:solidFill>
            <a:schemeClr val="bg1"/>
          </a:solidFill>
          <a:ln w="5715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2743200" y="6096000"/>
            <a:ext cx="6629400" cy="533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400" dirty="0">
                <a:latin typeface="Times New Roman" pitchFamily="18" charset="0"/>
              </a:rPr>
              <a:t> </a:t>
            </a:r>
            <a:r>
              <a:rPr lang="en-GB" sz="2400" b="1" dirty="0" err="1">
                <a:latin typeface="Arial" pitchFamily="34" charset="0"/>
                <a:cs typeface="Arial" pitchFamily="34" charset="0"/>
              </a:rPr>
              <a:t>Tratamento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 err="1">
                <a:latin typeface="Arial" pitchFamily="34" charset="0"/>
                <a:cs typeface="Arial" pitchFamily="34" charset="0"/>
              </a:rPr>
              <a:t>diário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 sob DOT</a:t>
            </a:r>
          </a:p>
        </p:txBody>
      </p:sp>
      <p:sp>
        <p:nvSpPr>
          <p:cNvPr id="19462" name="Text Box 8"/>
          <p:cNvSpPr txBox="1">
            <a:spLocks noChangeArrowheads="1"/>
          </p:cNvSpPr>
          <p:nvPr/>
        </p:nvSpPr>
        <p:spPr bwMode="auto">
          <a:xfrm>
            <a:off x="2743200" y="1461293"/>
            <a:ext cx="2971800" cy="32316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err="1">
                <a:latin typeface="Arial" charset="0"/>
                <a:cs typeface="Arial" charset="0"/>
              </a:rPr>
              <a:t>Fase</a:t>
            </a:r>
            <a:r>
              <a:rPr lang="en-GB" altLang="en-US" sz="2400" b="1" dirty="0">
                <a:latin typeface="Arial" charset="0"/>
                <a:cs typeface="Arial" charset="0"/>
              </a:rPr>
              <a:t>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intensina</a:t>
            </a:r>
            <a:endParaRPr lang="en-GB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Arial" charset="0"/>
                <a:cs typeface="Arial" charset="0"/>
              </a:rPr>
              <a:t>  ( 2 meses)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RIFAMPICINA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ISONIAZIDA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PIRAZINAMIDA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ETAMBUTOL</a:t>
            </a:r>
          </a:p>
        </p:txBody>
      </p:sp>
      <p:sp>
        <p:nvSpPr>
          <p:cNvPr id="19463" name="Text Box 9"/>
          <p:cNvSpPr txBox="1">
            <a:spLocks noChangeArrowheads="1"/>
          </p:cNvSpPr>
          <p:nvPr/>
        </p:nvSpPr>
        <p:spPr bwMode="auto">
          <a:xfrm>
            <a:off x="6705600" y="1412081"/>
            <a:ext cx="2667000" cy="24929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b="1" dirty="0" err="1">
                <a:latin typeface="Arial" charset="0"/>
                <a:cs typeface="Arial" charset="0"/>
              </a:rPr>
              <a:t>Fase</a:t>
            </a:r>
            <a:r>
              <a:rPr lang="en-GB" altLang="en-US" sz="2400" b="1" dirty="0">
                <a:latin typeface="Arial" charset="0"/>
                <a:cs typeface="Arial" charset="0"/>
              </a:rPr>
              <a:t> de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manutenção</a:t>
            </a:r>
            <a:endParaRPr lang="en-GB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</a:rPr>
              <a:t> (4 meses)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RIFAMPICINA</a:t>
            </a:r>
          </a:p>
          <a:p>
            <a:pPr>
              <a:spcBef>
                <a:spcPct val="50000"/>
              </a:spcBef>
            </a:pPr>
            <a:r>
              <a:rPr lang="en-GB" altLang="en-US" sz="2400" b="1" dirty="0">
                <a:latin typeface="Lucida Sans" pitchFamily="34" charset="0"/>
                <a:sym typeface="Symbol" pitchFamily="18" charset="2"/>
              </a:rPr>
              <a:t>ISONIAZIDA</a:t>
            </a:r>
          </a:p>
        </p:txBody>
      </p:sp>
      <p:sp>
        <p:nvSpPr>
          <p:cNvPr id="10250" name="AutoShape 10"/>
          <p:cNvSpPr>
            <a:spLocks noChangeArrowheads="1"/>
          </p:cNvSpPr>
          <p:nvPr/>
        </p:nvSpPr>
        <p:spPr bwMode="auto">
          <a:xfrm>
            <a:off x="5562602" y="2935287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ahoma" charset="0"/>
            </a:endParaRPr>
          </a:p>
        </p:txBody>
      </p:sp>
      <p:sp>
        <p:nvSpPr>
          <p:cNvPr id="19465" name="Rectangle 11"/>
          <p:cNvSpPr>
            <a:spLocks noChangeArrowheads="1"/>
          </p:cNvSpPr>
          <p:nvPr/>
        </p:nvSpPr>
        <p:spPr bwMode="auto">
          <a:xfrm>
            <a:off x="2743200" y="5105400"/>
            <a:ext cx="2743200" cy="762000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 err="1">
                <a:latin typeface="Arial" charset="0"/>
                <a:cs typeface="Arial" charset="0"/>
              </a:rPr>
              <a:t>Melhoria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clínica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 algn="ctr"/>
            <a:r>
              <a:rPr lang="en-US" altLang="en-US" sz="2400" b="1" dirty="0" err="1">
                <a:latin typeface="Arial" charset="0"/>
                <a:cs typeface="Arial" charset="0"/>
              </a:rPr>
              <a:t>Conversão</a:t>
            </a:r>
            <a:r>
              <a:rPr lang="en-US" altLang="en-US" sz="2400" b="1" dirty="0">
                <a:latin typeface="Arial" charset="0"/>
                <a:cs typeface="Arial" charset="0"/>
              </a:rPr>
              <a:t> a BK-</a:t>
            </a:r>
          </a:p>
        </p:txBody>
      </p:sp>
      <p:sp>
        <p:nvSpPr>
          <p:cNvPr id="19466" name="Rectangle 13"/>
          <p:cNvSpPr>
            <a:spLocks noChangeArrowheads="1"/>
          </p:cNvSpPr>
          <p:nvPr/>
        </p:nvSpPr>
        <p:spPr bwMode="auto">
          <a:xfrm>
            <a:off x="6096000" y="5135368"/>
            <a:ext cx="3276600" cy="732032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 err="1">
                <a:latin typeface="Arial" charset="0"/>
                <a:cs typeface="Arial" charset="0"/>
              </a:rPr>
              <a:t>Esterilização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 algn="ctr"/>
            <a:r>
              <a:rPr lang="en-US" altLang="en-US" sz="2400" b="1" dirty="0" err="1">
                <a:latin typeface="Arial" charset="0"/>
                <a:cs typeface="Arial" charset="0"/>
              </a:rPr>
              <a:t>Prevenção</a:t>
            </a:r>
            <a:r>
              <a:rPr lang="en-US" altLang="en-US" sz="2400" b="1" dirty="0">
                <a:latin typeface="Arial" charset="0"/>
                <a:cs typeface="Arial" charset="0"/>
              </a:rPr>
              <a:t> de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recaída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19467" name="Text Box 14"/>
          <p:cNvSpPr txBox="1">
            <a:spLocks noChangeArrowheads="1"/>
          </p:cNvSpPr>
          <p:nvPr/>
        </p:nvSpPr>
        <p:spPr bwMode="auto">
          <a:xfrm>
            <a:off x="1752600" y="5334000"/>
            <a:ext cx="914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/>
              <a:t>Obj.</a:t>
            </a: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4E4A42-996F-D5B6-B53B-8BE84F229C3A}"/>
              </a:ext>
            </a:extLst>
          </p:cNvPr>
          <p:cNvSpPr txBox="1">
            <a:spLocks/>
          </p:cNvSpPr>
          <p:nvPr/>
        </p:nvSpPr>
        <p:spPr>
          <a:xfrm>
            <a:off x="800100" y="184165"/>
            <a:ext cx="10515600" cy="5401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Tratamento</a:t>
            </a:r>
            <a:r>
              <a:rPr lang="en-ZA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 TB </a:t>
            </a:r>
            <a:r>
              <a:rPr lang="en-ZA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sensível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13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ZA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Tratamento</a:t>
            </a:r>
            <a:r>
              <a:rPr lang="en-ZA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da TB </a:t>
            </a:r>
            <a:r>
              <a:rPr lang="en-ZA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sensível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07EF0D50-1B49-E77C-63DD-59ECB4840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38600"/>
              </p:ext>
            </p:extLst>
          </p:nvPr>
        </p:nvGraphicFramePr>
        <p:xfrm>
          <a:off x="1441703" y="1852106"/>
          <a:ext cx="9436609" cy="3625152"/>
        </p:xfrm>
        <a:graphic>
          <a:graphicData uri="http://schemas.openxmlformats.org/drawingml/2006/table">
            <a:tbl>
              <a:tblPr bandRow="1"/>
              <a:tblGrid>
                <a:gridCol w="3329145">
                  <a:extLst>
                    <a:ext uri="{9D8B030D-6E8A-4147-A177-3AD203B41FA5}">
                      <a16:colId xmlns:a16="http://schemas.microsoft.com/office/drawing/2014/main" xmlns="" val="4159574287"/>
                    </a:ext>
                  </a:extLst>
                </a:gridCol>
                <a:gridCol w="3329145">
                  <a:extLst>
                    <a:ext uri="{9D8B030D-6E8A-4147-A177-3AD203B41FA5}">
                      <a16:colId xmlns:a16="http://schemas.microsoft.com/office/drawing/2014/main" xmlns="" val="3669212518"/>
                    </a:ext>
                  </a:extLst>
                </a:gridCol>
                <a:gridCol w="2778319">
                  <a:extLst>
                    <a:ext uri="{9D8B030D-6E8A-4147-A177-3AD203B41FA5}">
                      <a16:colId xmlns:a16="http://schemas.microsoft.com/office/drawing/2014/main" xmlns="" val="511359899"/>
                    </a:ext>
                  </a:extLst>
                </a:gridCol>
              </a:tblGrid>
              <a:tr h="60419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E7E6E6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Peso (kg)</a:t>
                      </a:r>
                      <a:endParaRPr lang="en-US" sz="1800" dirty="0">
                        <a:effectLst/>
                        <a:highlight>
                          <a:srgbClr val="E7E6E6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intensiva</a:t>
                      </a:r>
                      <a:endParaRPr lang="en-US" sz="1800"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de manuntenção</a:t>
                      </a:r>
                      <a:endParaRPr lang="en-US" sz="180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9813035"/>
                  </a:ext>
                </a:extLst>
              </a:tr>
              <a:tr h="6041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HRZE (75/150/400/275mg)</a:t>
                      </a:r>
                      <a:endParaRPr lang="en-US" sz="1800" dirty="0"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HR (75/150mg)</a:t>
                      </a:r>
                      <a:endParaRPr lang="en-US" sz="180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4153721"/>
                  </a:ext>
                </a:extLst>
              </a:tr>
              <a:tr h="604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25-29.9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97730293"/>
                  </a:ext>
                </a:extLst>
              </a:tr>
              <a:tr h="604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30-34.9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7051447"/>
                  </a:ext>
                </a:extLst>
              </a:tr>
              <a:tr h="604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35-64.9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dirty="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4275502"/>
                  </a:ext>
                </a:extLst>
              </a:tr>
              <a:tr h="604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 Narrow" panose="020B0004020202020204" pitchFamily="34" charset="0"/>
                          <a:cs typeface="Aptos Narrow" panose="020B0004020202020204" pitchFamily="34" charset="0"/>
                        </a:rPr>
                        <a:t>≥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highlight>
                            <a:srgbClr val="E2EFD9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highlight>
                          <a:srgbClr val="E2EFD9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highlight>
                            <a:srgbClr val="FFF2CC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effectLst/>
                        <a:highlight>
                          <a:srgbClr val="FFF2CC"/>
                        </a:highlight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457476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A094AB-9994-DE8F-E279-8451C214564B}"/>
              </a:ext>
            </a:extLst>
          </p:cNvPr>
          <p:cNvSpPr txBox="1"/>
          <p:nvPr/>
        </p:nvSpPr>
        <p:spPr>
          <a:xfrm>
            <a:off x="838200" y="1275527"/>
            <a:ext cx="10226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Dosagem</a:t>
            </a:r>
            <a:r>
              <a:rPr lang="en-US" sz="2400" dirty="0"/>
              <a:t> de </a:t>
            </a:r>
            <a:r>
              <a:rPr lang="en-US" sz="2400" dirty="0" err="1"/>
              <a:t>medicamentos</a:t>
            </a:r>
            <a:r>
              <a:rPr lang="en-US" sz="2400" dirty="0"/>
              <a:t> para o </a:t>
            </a:r>
            <a:r>
              <a:rPr lang="en-US" sz="2400" dirty="0" err="1"/>
              <a:t>tratamento</a:t>
            </a:r>
            <a:r>
              <a:rPr lang="en-US" sz="2400" dirty="0"/>
              <a:t> da TB </a:t>
            </a:r>
            <a:r>
              <a:rPr lang="en-US" sz="2400" dirty="0" err="1"/>
              <a:t>sensivel</a:t>
            </a:r>
            <a:r>
              <a:rPr lang="en-US" sz="2400" dirty="0"/>
              <a:t> – 4DFC ( HRZE)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073DD78-0B57-0DE5-038E-C14462DF4546}"/>
              </a:ext>
            </a:extLst>
          </p:cNvPr>
          <p:cNvSpPr txBox="1"/>
          <p:nvPr/>
        </p:nvSpPr>
        <p:spPr>
          <a:xfrm>
            <a:off x="1441703" y="5770417"/>
            <a:ext cx="7223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Associar</a:t>
            </a:r>
            <a:r>
              <a:rPr lang="en-US" sz="2400" dirty="0"/>
              <a:t> </a:t>
            </a:r>
            <a:r>
              <a:rPr lang="en-US" sz="2400" dirty="0" err="1"/>
              <a:t>Vitamina</a:t>
            </a:r>
            <a:r>
              <a:rPr lang="en-US" sz="2400" dirty="0"/>
              <a:t> B6</a:t>
            </a:r>
          </a:p>
        </p:txBody>
      </p:sp>
    </p:spTree>
    <p:extLst>
      <p:ext uri="{BB962C8B-B14F-4D97-AF65-F5344CB8AC3E}">
        <p14:creationId xmlns:p14="http://schemas.microsoft.com/office/powerpoint/2010/main" val="88923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Monitoria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tratamento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TB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Sensível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D26958CF-D16A-4347-8023-E2A548202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041" t="18148" r="31389" b="9127"/>
          <a:stretch/>
        </p:blipFill>
        <p:spPr>
          <a:xfrm>
            <a:off x="4527804" y="95250"/>
            <a:ext cx="6806945" cy="6581775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2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Monitoria do tratamento – TB Sensível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xmlns="" id="{6C0C89A9-3395-40C5-B747-C3E1551CC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500" t="19013" r="33542" b="10988"/>
          <a:stretch/>
        </p:blipFill>
        <p:spPr>
          <a:xfrm>
            <a:off x="4216526" y="152400"/>
            <a:ext cx="7469505" cy="6553200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1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0" y="667512"/>
            <a:ext cx="5018272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D95867-38B8-9116-578C-72E171145F69}"/>
              </a:ext>
            </a:extLst>
          </p:cNvPr>
          <p:cNvSpPr txBox="1"/>
          <p:nvPr/>
        </p:nvSpPr>
        <p:spPr>
          <a:xfrm>
            <a:off x="5150358" y="2698253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Resistente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77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02" y="335373"/>
            <a:ext cx="10710671" cy="65424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da TB segundo o tipo de resistência</a:t>
            </a:r>
            <a:endParaRPr lang="en-ZA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578E835-3110-4EDE-844D-CA0DC1E7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03" y="1311507"/>
            <a:ext cx="10710672" cy="2607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767A75-637F-A27B-8EFA-B17FF0D9AE02}"/>
              </a:ext>
            </a:extLst>
          </p:cNvPr>
          <p:cNvSpPr txBox="1"/>
          <p:nvPr/>
        </p:nvSpPr>
        <p:spPr>
          <a:xfrm>
            <a:off x="1424353" y="4407702"/>
            <a:ext cx="10314557" cy="23634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Actualização</a:t>
            </a:r>
            <a:r>
              <a:rPr lang="en-US" sz="21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OMS 2022</a:t>
            </a:r>
            <a:r>
              <a:rPr lang="en-US" sz="2100" b="1" u="sng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100" b="1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TB </a:t>
            </a:r>
            <a:r>
              <a:rPr lang="en-US" sz="21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</a:t>
            </a:r>
            <a:r>
              <a:rPr lang="en-US" sz="2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-XR: 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TB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Multirresistente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Resistência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fluoroquinolonas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TB </a:t>
            </a:r>
            <a:r>
              <a:rPr lang="en-US" sz="21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Extensivamente</a:t>
            </a:r>
            <a:r>
              <a:rPr lang="en-US" sz="2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resistente</a:t>
            </a:r>
            <a:r>
              <a:rPr lang="en-US" sz="2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(TB-XR): 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TB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Multirresistente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Resistência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fluoroquinolonas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Resistência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mais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um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fármaco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(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Bedaquilina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Linezolide</a:t>
            </a:r>
            <a:r>
              <a:rPr lang="en-US" sz="2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3798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50" y="147979"/>
            <a:ext cx="11366500" cy="76642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dos medicamentos da TB MR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4BB7831E-C5E6-41BF-80F5-7132B7B6CD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944017"/>
              </p:ext>
            </p:extLst>
          </p:nvPr>
        </p:nvGraphicFramePr>
        <p:xfrm>
          <a:off x="903194" y="1160585"/>
          <a:ext cx="10385612" cy="553471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735031">
                  <a:extLst>
                    <a:ext uri="{9D8B030D-6E8A-4147-A177-3AD203B41FA5}">
                      <a16:colId xmlns:a16="http://schemas.microsoft.com/office/drawing/2014/main" xmlns="" val="1267438916"/>
                    </a:ext>
                  </a:extLst>
                </a:gridCol>
                <a:gridCol w="3588409">
                  <a:extLst>
                    <a:ext uri="{9D8B030D-6E8A-4147-A177-3AD203B41FA5}">
                      <a16:colId xmlns:a16="http://schemas.microsoft.com/office/drawing/2014/main" xmlns="" val="3006793493"/>
                    </a:ext>
                  </a:extLst>
                </a:gridCol>
                <a:gridCol w="2062172">
                  <a:extLst>
                    <a:ext uri="{9D8B030D-6E8A-4147-A177-3AD203B41FA5}">
                      <a16:colId xmlns:a16="http://schemas.microsoft.com/office/drawing/2014/main" xmlns="" val="578575394"/>
                    </a:ext>
                  </a:extLst>
                </a:gridCol>
              </a:tblGrid>
              <a:tr h="298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b="1" dirty="0">
                          <a:effectLst/>
                        </a:rPr>
                        <a:t>Grupo</a:t>
                      </a:r>
                      <a:endParaRPr lang="en-GB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b="1" dirty="0">
                          <a:effectLst/>
                        </a:rPr>
                        <a:t>Medicamentos</a:t>
                      </a:r>
                      <a:endParaRPr lang="en-GB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b="1" dirty="0">
                          <a:effectLst/>
                        </a:rPr>
                        <a:t>Abreviatura</a:t>
                      </a:r>
                      <a:endParaRPr lang="en-GB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53592253"/>
                  </a:ext>
                </a:extLst>
              </a:tr>
              <a:tr h="531162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</a:rPr>
                        <a:t>Grupo A: Medicamentos prioritários</a:t>
                      </a:r>
                      <a:endParaRPr lang="en-GB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Levofloxacina</a:t>
                      </a:r>
                      <a:r>
                        <a:rPr lang="pt-PT" sz="2000" dirty="0">
                          <a:effectLst/>
                        </a:rPr>
                        <a:t> ou</a:t>
                      </a:r>
                      <a:r>
                        <a:rPr lang="en-GB" sz="2000" baseline="0" dirty="0">
                          <a:effectLst/>
                        </a:rPr>
                        <a:t> </a:t>
                      </a:r>
                      <a:r>
                        <a:rPr lang="pt-PT" sz="2000" dirty="0" err="1">
                          <a:effectLst/>
                        </a:rPr>
                        <a:t>Moxifloxacina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Lfx</a:t>
                      </a:r>
                      <a:endParaRPr lang="en-GB" sz="2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Mfx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17148076"/>
                  </a:ext>
                </a:extLst>
              </a:tr>
              <a:tr h="53116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Bedaquilina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Bdq</a:t>
                      </a:r>
                      <a:endParaRPr lang="en-GB" sz="2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55398884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Linezolida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Lnz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0683264"/>
                  </a:ext>
                </a:extLst>
              </a:tr>
              <a:tr h="346449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</a:rPr>
                        <a:t>Grupo B: Medicamentos para completar o regime</a:t>
                      </a:r>
                      <a:endParaRPr lang="en-GB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Clofazimina</a:t>
                      </a:r>
                      <a:r>
                        <a:rPr lang="en-GB" sz="2000" dirty="0">
                          <a:effectLst/>
                        </a:rPr>
                        <a:t> 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Cfz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95357434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Cicloserina</a:t>
                      </a:r>
                      <a:r>
                        <a:rPr lang="pt-PT" sz="2000" dirty="0">
                          <a:effectLst/>
                        </a:rPr>
                        <a:t>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Cs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8458505"/>
                  </a:ext>
                </a:extLst>
              </a:tr>
              <a:tr h="265581">
                <a:tc rowSpan="9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</a:rPr>
                        <a:t>Grupo C: Medicamentos para completar o regime quando o grupo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ou B não podem ser incluídos.</a:t>
                      </a:r>
                      <a:endParaRPr lang="en-GB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</a:rPr>
                        <a:t>(medicamentos de resgate)</a:t>
                      </a:r>
                      <a:endParaRPr lang="en-GB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Etambutol</a:t>
                      </a:r>
                      <a:r>
                        <a:rPr lang="pt-PT" sz="2000" dirty="0">
                          <a:effectLst/>
                        </a:rPr>
                        <a:t>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E</a:t>
                      </a: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65982743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Delamanida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Dlm</a:t>
                      </a: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13074351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Pirazinamida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Z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51566059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Imipenem</a:t>
                      </a:r>
                      <a:r>
                        <a:rPr lang="pt-PT" sz="2000" dirty="0">
                          <a:effectLst/>
                        </a:rPr>
                        <a:t>–</a:t>
                      </a:r>
                      <a:r>
                        <a:rPr lang="pt-PT" sz="2000" dirty="0" err="1">
                          <a:effectLst/>
                        </a:rPr>
                        <a:t>Cilastatina</a:t>
                      </a:r>
                      <a:r>
                        <a:rPr lang="pt-PT" sz="2000" dirty="0">
                          <a:effectLst/>
                        </a:rPr>
                        <a:t> 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Ipm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6845198"/>
                  </a:ext>
                </a:extLst>
              </a:tr>
              <a:tr h="3114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Meropenem</a:t>
                      </a:r>
                      <a:r>
                        <a:rPr lang="pt-PT" sz="2000" dirty="0">
                          <a:effectLst/>
                        </a:rPr>
                        <a:t>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Mpm</a:t>
                      </a: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15155747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Amikacina</a:t>
                      </a:r>
                      <a:r>
                        <a:rPr lang="pt-PT" sz="2000" dirty="0">
                          <a:effectLst/>
                        </a:rPr>
                        <a:t>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Am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0758284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Estreptomicina 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204564862"/>
                  </a:ext>
                </a:extLst>
              </a:tr>
              <a:tr h="53116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Etionamida</a:t>
                      </a:r>
                      <a:r>
                        <a:rPr lang="pt-PT" sz="2000" dirty="0">
                          <a:effectLst/>
                        </a:rPr>
                        <a:t> ou</a:t>
                      </a:r>
                      <a:endParaRPr lang="en-GB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 err="1">
                          <a:effectLst/>
                        </a:rPr>
                        <a:t>Proteonamida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Eto</a:t>
                      </a:r>
                      <a:endParaRPr lang="en-GB" sz="2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Pto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18268031"/>
                  </a:ext>
                </a:extLst>
              </a:tr>
              <a:tr h="2655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Ácido Para </a:t>
                      </a:r>
                      <a:r>
                        <a:rPr lang="pt-PT" sz="2000" dirty="0" err="1">
                          <a:effectLst/>
                        </a:rPr>
                        <a:t>Amino</a:t>
                      </a:r>
                      <a:r>
                        <a:rPr lang="pt-PT" sz="2000" dirty="0">
                          <a:effectLst/>
                        </a:rPr>
                        <a:t> Salicílico 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2000" dirty="0">
                          <a:effectLst/>
                        </a:rPr>
                        <a:t> PAS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054833660"/>
                  </a:ext>
                </a:extLst>
              </a:tr>
            </a:tbl>
          </a:graphicData>
        </a:graphic>
      </p:graphicFrame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3" name="Wave 2">
            <a:extLst>
              <a:ext uri="{FF2B5EF4-FFF2-40B4-BE49-F238E27FC236}">
                <a16:creationId xmlns:a16="http://schemas.microsoft.com/office/drawing/2014/main" xmlns="" id="{7890290D-6288-78E0-73A9-CB1F42B87D44}"/>
              </a:ext>
            </a:extLst>
          </p:cNvPr>
          <p:cNvSpPr/>
          <p:nvPr/>
        </p:nvSpPr>
        <p:spPr>
          <a:xfrm>
            <a:off x="241348" y="5541264"/>
            <a:ext cx="2245819" cy="690818"/>
          </a:xfrm>
          <a:prstGeom prst="wav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Pretomanida</a:t>
            </a:r>
            <a:r>
              <a:rPr lang="en-US" sz="2000" b="1" dirty="0">
                <a:solidFill>
                  <a:schemeClr val="tx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56363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5125"/>
            <a:ext cx="11366500" cy="84188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de tratamento para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B5EE13-00EF-47E5-BC67-54D5D61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40517"/>
            <a:ext cx="11366500" cy="506942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Em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conformidade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com as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mais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recentes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directrizes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da OMS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passaremos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ter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seguinte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31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b="1" kern="100" dirty="0">
              <a:solidFill>
                <a:srgbClr val="C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100" b="1" u="sng" kern="100" dirty="0">
                <a:ea typeface="Aptos" panose="020B0004020202020204" pitchFamily="34" charset="0"/>
                <a:cs typeface="Times New Roman" panose="02020603050405020304" pitchFamily="18" charset="0"/>
              </a:rPr>
              <a:t>Para TBRR/MR</a:t>
            </a:r>
          </a:p>
          <a:p>
            <a:pPr marL="0" indent="0">
              <a:buNone/>
            </a:pP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1. Regime</a:t>
            </a:r>
            <a:r>
              <a:rPr lang="en-US" sz="3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curto</a:t>
            </a:r>
            <a:r>
              <a:rPr lang="en-US" sz="3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para o </a:t>
            </a:r>
            <a:r>
              <a:rPr lang="en-US" sz="31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 TB RR/MR </a:t>
            </a:r>
            <a:r>
              <a:rPr lang="en-US" sz="3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(6 meses)</a:t>
            </a:r>
          </a:p>
          <a:p>
            <a:pPr marL="0" indent="0">
              <a:buNone/>
            </a:pP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2. Regime </a:t>
            </a:r>
            <a:r>
              <a:rPr lang="en-US" sz="31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longo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para TB RR/MR 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(18 a 20 meses)</a:t>
            </a:r>
          </a:p>
          <a:p>
            <a:pPr marL="0" indent="0">
              <a:buNone/>
            </a:pPr>
            <a:endParaRPr lang="en-US" sz="31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100" b="1" u="sng" kern="100" dirty="0">
                <a:ea typeface="Aptos" panose="020B0004020202020204" pitchFamily="34" charset="0"/>
                <a:cs typeface="Times New Roman" panose="02020603050405020304" pitchFamily="18" charset="0"/>
              </a:rPr>
              <a:t>Para TB Pre-XR</a:t>
            </a:r>
          </a:p>
          <a:p>
            <a:pPr marL="0" indent="0">
              <a:buNone/>
            </a:pP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1. Regime </a:t>
            </a:r>
            <a:r>
              <a:rPr lang="en-US" sz="31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curto</a:t>
            </a: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para o </a:t>
            </a:r>
            <a:r>
              <a:rPr lang="en-US" sz="31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3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 TB Pre-XR </a:t>
            </a:r>
            <a:r>
              <a:rPr lang="en-US" sz="31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(6 meses)</a:t>
            </a:r>
          </a:p>
          <a:p>
            <a:pPr marL="0" indent="0">
              <a:buNone/>
            </a:pP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2. Regime </a:t>
            </a:r>
            <a:r>
              <a:rPr lang="en-US" sz="31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longo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individualizado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para TB Pre-XR 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(18 a 20 meses)</a:t>
            </a:r>
          </a:p>
          <a:p>
            <a:pPr marL="0" indent="0">
              <a:buNone/>
            </a:pPr>
            <a:endParaRPr lang="en-US" sz="31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Para TB XR</a:t>
            </a:r>
          </a:p>
          <a:p>
            <a:pPr marL="0" indent="0">
              <a:buNone/>
            </a:pP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1. Regime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longo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individualizado</a:t>
            </a:r>
            <a:r>
              <a:rPr lang="en-US" sz="31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(20-24 meses)</a:t>
            </a:r>
          </a:p>
          <a:p>
            <a:pPr marL="0" indent="0">
              <a:buNone/>
            </a:pPr>
            <a:endParaRPr lang="en-US" sz="3200" b="1" kern="100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7510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0" y="667512"/>
            <a:ext cx="4268464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0350670-78C7-6DFF-4540-8599F2A6637B}"/>
              </a:ext>
            </a:extLst>
          </p:cNvPr>
          <p:cNvSpPr txBox="1"/>
          <p:nvPr/>
        </p:nvSpPr>
        <p:spPr>
          <a:xfrm>
            <a:off x="4773168" y="2286773"/>
            <a:ext cx="72684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Resistente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000" b="1" dirty="0">
                <a:solidFill>
                  <a:prstClr val="black"/>
                </a:solidFill>
                <a:latin typeface="Calibri"/>
              </a:rPr>
              <a:t>Regimes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longos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 de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tratamento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 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solidFill>
                  <a:prstClr val="black"/>
                </a:solidFill>
                <a:latin typeface="Calibri"/>
              </a:rPr>
              <a:t>TB MR e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Pré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-XR/XR</a:t>
            </a:r>
          </a:p>
        </p:txBody>
      </p:sp>
    </p:spTree>
    <p:extLst>
      <p:ext uri="{BB962C8B-B14F-4D97-AF65-F5344CB8AC3E}">
        <p14:creationId xmlns:p14="http://schemas.microsoft.com/office/powerpoint/2010/main" val="1460891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56" y="134075"/>
            <a:ext cx="11366500" cy="84188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longos de tratamento da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3192186-3F1A-47DC-8AE1-A2D04618E2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53" t="26621" r="27189" b="21111"/>
          <a:stretch/>
        </p:blipFill>
        <p:spPr>
          <a:xfrm>
            <a:off x="904875" y="2247900"/>
            <a:ext cx="10426700" cy="42449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2BA672-4FB0-7F64-FFC9-07B0AEE65850}"/>
              </a:ext>
            </a:extLst>
          </p:cNvPr>
          <p:cNvSpPr txBox="1"/>
          <p:nvPr/>
        </p:nvSpPr>
        <p:spPr>
          <a:xfrm>
            <a:off x="650240" y="1313741"/>
            <a:ext cx="85679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/>
              <a:t>A. Regime </a:t>
            </a:r>
            <a:r>
              <a:rPr lang="en-US" sz="2500" b="1" u="sng" dirty="0" err="1"/>
              <a:t>longo</a:t>
            </a:r>
            <a:r>
              <a:rPr lang="en-US" sz="2500" b="1" u="sng" dirty="0"/>
              <a:t> </a:t>
            </a:r>
            <a:r>
              <a:rPr lang="en-US" sz="2500" b="1" u="sng" dirty="0" err="1"/>
              <a:t>padronizado</a:t>
            </a:r>
            <a:r>
              <a:rPr lang="en-US" sz="2500" b="1" u="sng" dirty="0"/>
              <a:t> para o </a:t>
            </a:r>
            <a:r>
              <a:rPr lang="en-US" sz="2500" b="1" u="sng" dirty="0" err="1"/>
              <a:t>tratamento</a:t>
            </a:r>
            <a:r>
              <a:rPr lang="en-US" sz="2500" b="1" u="sng" dirty="0"/>
              <a:t> da TBRR/MR</a:t>
            </a:r>
          </a:p>
        </p:txBody>
      </p:sp>
    </p:spTree>
    <p:extLst>
      <p:ext uri="{BB962C8B-B14F-4D97-AF65-F5344CB8AC3E}">
        <p14:creationId xmlns:p14="http://schemas.microsoft.com/office/powerpoint/2010/main" val="2169771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56" y="134075"/>
            <a:ext cx="11366500" cy="84188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longos de tratamento da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2BA672-4FB0-7F64-FFC9-07B0AEE65850}"/>
              </a:ext>
            </a:extLst>
          </p:cNvPr>
          <p:cNvSpPr txBox="1"/>
          <p:nvPr/>
        </p:nvSpPr>
        <p:spPr>
          <a:xfrm>
            <a:off x="560324" y="1396583"/>
            <a:ext cx="661771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u="sng" dirty="0"/>
              <a:t>B. Regimes </a:t>
            </a:r>
            <a:r>
              <a:rPr lang="en-US" sz="2500" b="1" u="sng" dirty="0" err="1"/>
              <a:t>individualizados</a:t>
            </a:r>
            <a:r>
              <a:rPr lang="en-US" sz="2500" b="1" u="sng" dirty="0"/>
              <a:t> para o </a:t>
            </a:r>
            <a:r>
              <a:rPr lang="en-US" sz="2500" b="1" u="sng" dirty="0" err="1"/>
              <a:t>tratamento</a:t>
            </a:r>
            <a:r>
              <a:rPr lang="en-US" sz="2500" b="1" u="sng" dirty="0"/>
              <a:t> da TB </a:t>
            </a:r>
            <a:r>
              <a:rPr lang="en-US" sz="2500" b="1" u="sng" dirty="0" err="1"/>
              <a:t>Pré</a:t>
            </a:r>
            <a:r>
              <a:rPr lang="en-US" sz="2500" b="1" u="sng" dirty="0"/>
              <a:t>-XR/XR</a:t>
            </a:r>
          </a:p>
          <a:p>
            <a:endParaRPr lang="en-US" sz="2500" b="1" u="sng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Estes regimes são definidos em função do perfil de sensibilidade aos medicamentos, da tolerância do paciente e do tempo de exposição aos fármacos.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 São recomendados pelo comité nacional de TB resistente, pelo que devem ser submetidos os casos clinicos dos pacientes para discussão.</a:t>
            </a:r>
          </a:p>
          <a:p>
            <a:pPr algn="ctr"/>
            <a:r>
              <a:rPr lang="pt-PT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(Comite.nacional.tbmr@gmail.com</a:t>
            </a:r>
            <a:r>
              <a:rPr lang="pt-PT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500" b="1" u="sng" dirty="0"/>
          </a:p>
          <a:p>
            <a:pPr marL="457200" indent="-457200">
              <a:buAutoNum type="alphaUcPeriod"/>
            </a:pPr>
            <a:endParaRPr lang="en-US" sz="25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9162675-FB36-DABE-8122-517E74042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865" y="1252786"/>
            <a:ext cx="4014691" cy="486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4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5125"/>
            <a:ext cx="11366500" cy="84188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longos de tratamento para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EE36DD0-75EE-7022-370B-4D82EC9610C6}"/>
              </a:ext>
            </a:extLst>
          </p:cNvPr>
          <p:cNvSpPr txBox="1"/>
          <p:nvPr/>
        </p:nvSpPr>
        <p:spPr>
          <a:xfrm>
            <a:off x="1005840" y="1499616"/>
            <a:ext cx="982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Tabela</a:t>
            </a:r>
            <a:r>
              <a:rPr lang="en-US" sz="2400" dirty="0"/>
              <a:t> de </a:t>
            </a:r>
            <a:r>
              <a:rPr lang="en-US" sz="2400" dirty="0" err="1"/>
              <a:t>dosagem</a:t>
            </a:r>
            <a:r>
              <a:rPr lang="en-US" sz="2400" dirty="0"/>
              <a:t> dos </a:t>
            </a:r>
            <a:r>
              <a:rPr lang="en-US" sz="2400" dirty="0" err="1"/>
              <a:t>medicamentos</a:t>
            </a:r>
            <a:r>
              <a:rPr lang="en-US" sz="2400" dirty="0"/>
              <a:t> para o </a:t>
            </a:r>
            <a:r>
              <a:rPr lang="en-US" sz="2400" dirty="0" err="1"/>
              <a:t>tratamento</a:t>
            </a:r>
            <a:r>
              <a:rPr lang="en-US" sz="2400" dirty="0"/>
              <a:t> da TB RR/MR</a:t>
            </a:r>
          </a:p>
        </p:txBody>
      </p:sp>
      <p:pic>
        <p:nvPicPr>
          <p:cNvPr id="3074" name="image7.png">
            <a:extLst>
              <a:ext uri="{FF2B5EF4-FFF2-40B4-BE49-F238E27FC236}">
                <a16:creationId xmlns:a16="http://schemas.microsoft.com/office/drawing/2014/main" xmlns="" id="{0E390983-5A02-41E6-F50C-C8B104E78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56" y="2097120"/>
            <a:ext cx="10600944" cy="42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8994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Monitoria do tratamento – TB Resistente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BA87824-EAEA-47F2-B1A2-6A0C59E47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97" t="22222" r="21597" b="9127"/>
          <a:stretch/>
        </p:blipFill>
        <p:spPr>
          <a:xfrm>
            <a:off x="4038600" y="209550"/>
            <a:ext cx="7513320" cy="6553199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9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Monitoria do tratamento – TB Resistente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xmlns="" id="{E93984C7-C547-4EB4-BB48-CE4E6925C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042" t="33580" r="21667" b="13209"/>
          <a:stretch/>
        </p:blipFill>
        <p:spPr>
          <a:xfrm>
            <a:off x="4038600" y="714376"/>
            <a:ext cx="7513320" cy="5762624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1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65B384-16E7-4CBF-9475-56F382DE9F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5" t="21111" r="25391" b="17222"/>
          <a:stretch/>
        </p:blipFill>
        <p:spPr>
          <a:xfrm>
            <a:off x="496455" y="719571"/>
            <a:ext cx="10428720" cy="586133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0E308AA1-CE98-4257-935A-72583091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55" y="162936"/>
            <a:ext cx="10515600" cy="47437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Cronograma da monitoria do tratamento – Regime longo</a:t>
            </a:r>
            <a:endParaRPr lang="en-ZA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39244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20" y="667512"/>
            <a:ext cx="4332472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D95867-38B8-9116-578C-72E171145F69}"/>
              </a:ext>
            </a:extLst>
          </p:cNvPr>
          <p:cNvSpPr txBox="1"/>
          <p:nvPr/>
        </p:nvSpPr>
        <p:spPr>
          <a:xfrm>
            <a:off x="4736592" y="2286773"/>
            <a:ext cx="72146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Resistente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000" b="1" dirty="0">
                <a:solidFill>
                  <a:prstClr val="black"/>
                </a:solidFill>
                <a:latin typeface="Calibri"/>
              </a:rPr>
              <a:t>Regimes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curtos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 de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tratamento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 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solidFill>
                  <a:prstClr val="black"/>
                </a:solidFill>
                <a:latin typeface="Calibri"/>
              </a:rPr>
              <a:t>TB MR e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Pré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-XR</a:t>
            </a:r>
          </a:p>
        </p:txBody>
      </p:sp>
    </p:spTree>
    <p:extLst>
      <p:ext uri="{BB962C8B-B14F-4D97-AF65-F5344CB8AC3E}">
        <p14:creationId xmlns:p14="http://schemas.microsoft.com/office/powerpoint/2010/main" val="3786966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46837"/>
            <a:ext cx="11366500" cy="72301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curtos de tratamento de TB Resistente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B5EE13-00EF-47E5-BC67-54D5D61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08" y="1348963"/>
            <a:ext cx="8384032" cy="506942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sz="2200" dirty="0"/>
              <a:t>A OMS recomendou recentemente um regime de 6 a 9 meses para o tratamento da TB-MR e Pré-XR, que para além de ser de curta duração, envolve um menor número de fármacos.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pt-BR" sz="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pt-BR" sz="2200" kern="0" dirty="0">
                <a:effectLst/>
                <a:ea typeface="Times New Roman" panose="02020603050405020304" pitchFamily="18" charset="0"/>
              </a:rPr>
              <a:t>O regime </a:t>
            </a:r>
            <a:r>
              <a:rPr lang="pt-BR" sz="2200" b="1" kern="0" dirty="0">
                <a:effectLst/>
                <a:ea typeface="Times New Roman" panose="02020603050405020304" pitchFamily="18" charset="0"/>
              </a:rPr>
              <a:t>BPaL (Bedaquilina, Pretomanida, Linezolida)</a:t>
            </a:r>
            <a:r>
              <a:rPr lang="pt-BR" sz="2200" kern="0" dirty="0">
                <a:effectLst/>
                <a:ea typeface="Times New Roman" panose="02020603050405020304" pitchFamily="18" charset="0"/>
              </a:rPr>
              <a:t> foi recomendado como resultado de um estudo realizado no ano 2020 (TB PRATECAL) com o objectivo de avaliar a sua eficácia para o tratamento da  TB-MR/Pré-XR: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pt-BR" b="1" kern="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N= 109 pacientes adultos, destes 90% com sucesso de tratamento.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pt-BR" sz="900" b="1" kern="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pt-BR" sz="2200" kern="0" dirty="0">
                <a:effectLst/>
                <a:ea typeface="Times New Roman" panose="02020603050405020304" pitchFamily="18" charset="0"/>
              </a:rPr>
              <a:t>Ao longo da </a:t>
            </a:r>
            <a:r>
              <a:rPr lang="pt-BR" sz="2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</a:rPr>
              <a:t>implementação do estudo</a:t>
            </a:r>
            <a:r>
              <a:rPr lang="pt-BR" sz="2200" kern="0" dirty="0">
                <a:effectLst/>
                <a:ea typeface="Times New Roman" panose="02020603050405020304" pitchFamily="18" charset="0"/>
              </a:rPr>
              <a:t> foi adicionada uma </a:t>
            </a:r>
            <a:r>
              <a:rPr lang="pt-BR" sz="2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</a:rPr>
              <a:t>fluoroquinolona (Moxifloxacina)</a:t>
            </a:r>
            <a:r>
              <a:rPr lang="pt-BR" sz="2200" kern="0" dirty="0">
                <a:solidFill>
                  <a:srgbClr val="000000"/>
                </a:solidFill>
                <a:highlight>
                  <a:srgbClr val="FFFFFF"/>
                </a:highlight>
                <a:ea typeface="Times New Roman" panose="02020603050405020304" pitchFamily="18" charset="0"/>
              </a:rPr>
              <a:t>: </a:t>
            </a:r>
            <a:r>
              <a:rPr lang="pt-BR" sz="2200" b="1" kern="0" dirty="0">
                <a:solidFill>
                  <a:srgbClr val="000000"/>
                </a:solidFill>
                <a:highlight>
                  <a:srgbClr val="FFFFFF"/>
                </a:highlight>
                <a:ea typeface="Times New Roman" panose="02020603050405020304" pitchFamily="18" charset="0"/>
              </a:rPr>
              <a:t>BPaL/M</a:t>
            </a:r>
            <a:endParaRPr lang="en-ZA" sz="2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81AFB02-F200-C105-A1C4-8E25E4C3D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56" y="1473898"/>
            <a:ext cx="2496312" cy="3473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857EA-336C-7227-FA3D-B7AFFE31AECA}"/>
              </a:ext>
            </a:extLst>
          </p:cNvPr>
          <p:cNvSpPr txBox="1"/>
          <p:nvPr/>
        </p:nvSpPr>
        <p:spPr>
          <a:xfrm>
            <a:off x="448895" y="6176109"/>
            <a:ext cx="11294210" cy="646331"/>
          </a:xfrm>
          <a:prstGeom prst="rect">
            <a:avLst/>
          </a:prstGeom>
          <a:solidFill>
            <a:srgbClr val="FFF9E7"/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1. A 24-Week, All-Oral Regimen for Rifampin-Resistant Tuberculosis</a:t>
            </a:r>
          </a:p>
          <a:p>
            <a:r>
              <a:rPr lang="en-US" sz="1200" dirty="0"/>
              <a:t>Bern-Thomas </a:t>
            </a:r>
            <a:r>
              <a:rPr lang="en-US" sz="1200" dirty="0" err="1"/>
              <a:t>Nyang’wa</a:t>
            </a:r>
            <a:r>
              <a:rPr lang="en-US" sz="1200" dirty="0"/>
              <a:t>, M.B., B.S., Catherine Berry, </a:t>
            </a:r>
            <a:r>
              <a:rPr lang="en-US" sz="1200" dirty="0" err="1"/>
              <a:t>B.Med</a:t>
            </a:r>
            <a:r>
              <a:rPr lang="en-US" sz="1200" dirty="0"/>
              <a:t>., Emil </a:t>
            </a:r>
            <a:r>
              <a:rPr lang="en-US" sz="1200" dirty="0" err="1"/>
              <a:t>Kazounis</a:t>
            </a:r>
            <a:r>
              <a:rPr lang="en-US" sz="1200" dirty="0"/>
              <a:t>, </a:t>
            </a:r>
            <a:r>
              <a:rPr lang="en-US" sz="1200" dirty="0" err="1"/>
              <a:t>M.Med.Sci</a:t>
            </a:r>
            <a:r>
              <a:rPr lang="en-US" sz="1200" dirty="0"/>
              <a:t>., Ilaria Motta, Ph.D., </a:t>
            </a:r>
            <a:r>
              <a:rPr lang="en-US" sz="1200" dirty="0" err="1"/>
              <a:t>Nargiza</a:t>
            </a:r>
            <a:r>
              <a:rPr lang="en-US" sz="1200" dirty="0"/>
              <a:t> </a:t>
            </a:r>
            <a:r>
              <a:rPr lang="en-US" sz="1200" dirty="0" err="1"/>
              <a:t>Parpieva</a:t>
            </a:r>
            <a:r>
              <a:rPr lang="en-US" sz="1200" dirty="0"/>
              <a:t>, Sc.D., Zinaida </a:t>
            </a:r>
            <a:r>
              <a:rPr lang="en-US" sz="1200" dirty="0" err="1"/>
              <a:t>Tigay</a:t>
            </a:r>
            <a:r>
              <a:rPr lang="en-US" sz="1200" dirty="0"/>
              <a:t>, M.D., Varvara </a:t>
            </a:r>
            <a:r>
              <a:rPr lang="en-US" sz="1200" dirty="0" err="1"/>
              <a:t>Solodovnikova</a:t>
            </a:r>
            <a:r>
              <a:rPr lang="en-US" sz="1200" dirty="0"/>
              <a:t>, M.D., Irina </a:t>
            </a:r>
            <a:r>
              <a:rPr lang="en-US" sz="1200" dirty="0" err="1"/>
              <a:t>Liverko</a:t>
            </a:r>
            <a:r>
              <a:rPr lang="en-US" sz="1200" dirty="0"/>
              <a:t>, Sc.D., </a:t>
            </a:r>
            <a:r>
              <a:rPr lang="en-US" sz="1200" dirty="0" err="1"/>
              <a:t>Ronelle</a:t>
            </a:r>
            <a:r>
              <a:rPr lang="en-US" sz="1200" dirty="0"/>
              <a:t> </a:t>
            </a:r>
            <a:r>
              <a:rPr lang="en-US" sz="1200" dirty="0" err="1"/>
              <a:t>Moodliar</a:t>
            </a:r>
            <a:r>
              <a:rPr lang="en-US" sz="1200" dirty="0"/>
              <a:t>, M.B., B.S., Matthew Dodd, M.Sc., Nosipho Ngubane, M.B., </a:t>
            </a:r>
            <a:r>
              <a:rPr lang="en-US" sz="1200" dirty="0" err="1"/>
              <a:t>B.Ch</a:t>
            </a:r>
            <a:r>
              <a:rPr lang="en-US" sz="1200" dirty="0"/>
              <a:t>., Mohammed </a:t>
            </a:r>
            <a:r>
              <a:rPr lang="en-US" sz="1200" dirty="0" err="1"/>
              <a:t>Rassool</a:t>
            </a:r>
            <a:r>
              <a:rPr lang="en-US" sz="1200" dirty="0"/>
              <a:t>, M.B., </a:t>
            </a:r>
            <a:r>
              <a:rPr lang="en-US" sz="1200" dirty="0" err="1"/>
              <a:t>B.Ch</a:t>
            </a:r>
            <a:r>
              <a:rPr lang="en-US" sz="1200" dirty="0"/>
              <a:t>., et al.,</a:t>
            </a:r>
          </a:p>
        </p:txBody>
      </p:sp>
    </p:spTree>
    <p:extLst>
      <p:ext uri="{BB962C8B-B14F-4D97-AF65-F5344CB8AC3E}">
        <p14:creationId xmlns:p14="http://schemas.microsoft.com/office/powerpoint/2010/main" val="2836836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CFBC3A2-D6DF-CF7D-5BB5-D42ACD1E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389888"/>
            <a:ext cx="9948672" cy="52212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731AE523-CB69-7EEC-C696-B640F2D3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10" y="102126"/>
            <a:ext cx="11366500" cy="65900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TBR: Regime longo Vs Regime curto</a:t>
            </a:r>
          </a:p>
        </p:txBody>
      </p:sp>
    </p:spTree>
    <p:extLst>
      <p:ext uri="{BB962C8B-B14F-4D97-AF65-F5344CB8AC3E}">
        <p14:creationId xmlns:p14="http://schemas.microsoft.com/office/powerpoint/2010/main" val="4138364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8D199-D692-A7C0-A71E-4B97AE80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41" y="110971"/>
            <a:ext cx="10515600" cy="666016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/>
            </a:r>
            <a:br>
              <a:rPr lang="pt-P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P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curtos de tratamento para TB resistente</a:t>
            </a:r>
            <a:r>
              <a:rPr lang="pt-PT" sz="3200" dirty="0">
                <a:solidFill>
                  <a:schemeClr val="bg1"/>
                </a:solidFill>
              </a:rPr>
              <a:t/>
            </a:r>
            <a:br>
              <a:rPr lang="pt-PT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977E41-CE37-C21C-327D-081ADD79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96" y="1096038"/>
            <a:ext cx="5468645" cy="5486399"/>
          </a:xfr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pt-BR" sz="2600" b="1" dirty="0"/>
              <a:t>Vantagens - Paciente</a:t>
            </a:r>
          </a:p>
          <a:p>
            <a:pPr marL="0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Curta duração (</a:t>
            </a:r>
            <a:r>
              <a:rPr lang="pt-BR" sz="2200" b="1" dirty="0"/>
              <a:t>6 a 9 meses</a:t>
            </a:r>
            <a:r>
              <a:rPr lang="pt-BR" sz="2200" dirty="0"/>
              <a:t>)</a:t>
            </a:r>
          </a:p>
          <a:p>
            <a:pPr marL="0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No reduzido de medicamentos que compõem o regime de </a:t>
            </a:r>
            <a:r>
              <a:rPr lang="pt-BR" sz="2200" b="1" dirty="0"/>
              <a:t>5 para 3-4</a:t>
            </a:r>
            <a:endParaRPr lang="pt-BR" sz="2200" dirty="0"/>
          </a:p>
          <a:p>
            <a:pPr marL="0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Redu</a:t>
            </a:r>
            <a:r>
              <a:rPr lang="pt-BR" sz="2200" dirty="0">
                <a:ea typeface="Calibri" panose="020F0502020204030204" pitchFamily="34" charset="0"/>
              </a:rPr>
              <a:t>ção</a:t>
            </a:r>
            <a:r>
              <a:rPr lang="pt-BR" sz="2200" dirty="0"/>
              <a:t> do No total de comprimidos por toma diária de  </a:t>
            </a:r>
            <a:r>
              <a:rPr lang="pt-BR" sz="2200" b="1" dirty="0"/>
              <a:t>10 Para 4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Melhoria da adesão ao tratamento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Redução do risco de </a:t>
            </a:r>
            <a:r>
              <a:rPr lang="pt-PT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reacções</a:t>
            </a: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adversas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Redução dos custos associados ao tratamento (</a:t>
            </a:r>
            <a:r>
              <a:rPr lang="pt-PT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ex:transporte</a:t>
            </a: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Redução da exposição  do paciente a US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Melhoria da qualidade de vida do paciente</a:t>
            </a:r>
            <a:endParaRPr lang="pt-BR" sz="2200" dirty="0"/>
          </a:p>
          <a:p>
            <a:pPr marL="0" indent="0" algn="just">
              <a:buNone/>
            </a:pPr>
            <a:r>
              <a:rPr lang="pt-BR" sz="1800" dirty="0"/>
              <a:t> </a:t>
            </a:r>
          </a:p>
          <a:p>
            <a:pPr marL="0" indent="0" algn="just">
              <a:buNone/>
            </a:pP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5F8558E-86F7-8CFF-9ADE-F0E2E9421401}"/>
              </a:ext>
            </a:extLst>
          </p:cNvPr>
          <p:cNvSpPr txBox="1"/>
          <p:nvPr/>
        </p:nvSpPr>
        <p:spPr>
          <a:xfrm>
            <a:off x="6326582" y="1096038"/>
            <a:ext cx="5120690" cy="338554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pt-BR" sz="2200" b="1" dirty="0"/>
              <a:t>Vantagens - Sector de Saúde:</a:t>
            </a:r>
          </a:p>
          <a:p>
            <a:pPr algn="just"/>
            <a:endParaRPr lang="pt-BR" sz="22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Redução da carga de trabalho para os profissionais de saúde</a:t>
            </a:r>
          </a:p>
          <a:p>
            <a:pPr algn="just"/>
            <a:endParaRPr lang="pt-P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Redução do custo do tratamento</a:t>
            </a:r>
          </a:p>
          <a:p>
            <a:pPr algn="just"/>
            <a:endParaRPr lang="pt-PT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87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5125"/>
            <a:ext cx="11366500" cy="72301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curtos de tratamento de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B5EE13-00EF-47E5-BC67-54D5D61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475613"/>
            <a:ext cx="11366500" cy="5069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u="sng" kern="1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5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Regime </a:t>
            </a:r>
            <a:r>
              <a:rPr lang="en-US" sz="2500" b="1" u="sng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curto</a:t>
            </a:r>
            <a:r>
              <a:rPr lang="en-US" sz="25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para o  </a:t>
            </a:r>
            <a:r>
              <a:rPr lang="en-US" sz="2500" b="1" u="sng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25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 TB RR/MR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effectLst/>
                <a:ea typeface="Times New Roman" panose="02020603050405020304" pitchFamily="18" charset="0"/>
              </a:rPr>
              <a:t>Os pacientes com diagnóstico de TB MR e sem evidência de resistência às fluoroquinolonas deverão ser tratados com o regime </a:t>
            </a:r>
            <a:r>
              <a:rPr lang="pt-BR" sz="24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</a:rPr>
              <a:t>BPaLM (6Bdq-Pa-Lzd-Mfx)</a:t>
            </a:r>
            <a:r>
              <a:rPr lang="pt-BR" sz="2400" b="1" dirty="0">
                <a:effectLst/>
                <a:ea typeface="Times New Roman" panose="02020603050405020304" pitchFamily="18" charset="0"/>
              </a:rPr>
              <a:t>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como primeira escolha em todas US onde o regime estiver a ser implementado.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effectLst/>
                <a:ea typeface="Times New Roman" panose="02020603050405020304" pitchFamily="18" charset="0"/>
              </a:rPr>
              <a:t>Este regime de tratamento tem a duração de 6 meses, e é totalmente oral.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3808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96" y="145669"/>
            <a:ext cx="11366500" cy="58876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27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curtos de tratamento para TB Resistente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8491"/>
            <a:ext cx="1107391" cy="62591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B5EE13-00EF-47E5-BC67-54D5D61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736" y="894286"/>
            <a:ext cx="11366500" cy="5069427"/>
          </a:xfrm>
        </p:spPr>
        <p:txBody>
          <a:bodyPr>
            <a:normAutofit/>
          </a:bodyPr>
          <a:lstStyle/>
          <a:p>
            <a:r>
              <a:rPr lang="en-US" sz="23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Regime </a:t>
            </a:r>
            <a:r>
              <a:rPr lang="en-US" sz="2300" b="1" u="sng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curto</a:t>
            </a:r>
            <a:r>
              <a:rPr lang="en-US" sz="23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300" b="1" u="sng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tratamento</a:t>
            </a:r>
            <a:r>
              <a:rPr lang="en-US" sz="23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 TB RR/MR</a:t>
            </a:r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7B01E341-30E2-0202-399F-63B5D5B0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59245"/>
              </p:ext>
            </p:extLst>
          </p:nvPr>
        </p:nvGraphicFramePr>
        <p:xfrm>
          <a:off x="1062736" y="1517867"/>
          <a:ext cx="10488168" cy="51944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44084">
                  <a:extLst>
                    <a:ext uri="{9D8B030D-6E8A-4147-A177-3AD203B41FA5}">
                      <a16:colId xmlns:a16="http://schemas.microsoft.com/office/drawing/2014/main" xmlns="" val="3527829681"/>
                    </a:ext>
                  </a:extLst>
                </a:gridCol>
                <a:gridCol w="5244084">
                  <a:extLst>
                    <a:ext uri="{9D8B030D-6E8A-4147-A177-3AD203B41FA5}">
                      <a16:colId xmlns:a16="http://schemas.microsoft.com/office/drawing/2014/main" xmlns="" val="249198137"/>
                    </a:ext>
                  </a:extLst>
                </a:gridCol>
              </a:tblGrid>
              <a:tr h="356617"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100" b="1" kern="100" dirty="0">
                          <a:solidFill>
                            <a:schemeClr val="bg1"/>
                          </a:solidFill>
                          <a:effectLst/>
                        </a:rPr>
                        <a:t>Critérios de inclusão</a:t>
                      </a:r>
                      <a:endParaRPr lang="en-US" sz="21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100" b="1" kern="100" dirty="0">
                          <a:solidFill>
                            <a:schemeClr val="bg1"/>
                          </a:solidFill>
                          <a:effectLst/>
                        </a:rPr>
                        <a:t>Critérios de exclusão</a:t>
                      </a:r>
                      <a:endParaRPr lang="en-US" sz="21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5704787"/>
                  </a:ext>
                </a:extLst>
              </a:tr>
              <a:tr h="483784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TB pulmonar e TB extrapulmonar, excepto TB envolvendo o Sistema Nervoso central (SNC), TB osteoarticular e TB disseminada (miliar);</a:t>
                      </a:r>
                    </a:p>
                    <a:p>
                      <a:pPr marL="0" marR="0" lvl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None/>
                      </a:pPr>
                      <a:endParaRPr lang="en-US" sz="105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Idade maior ou igual a 14 anos; Sem história de intolerância a qualquer um dos medicamentos que compõem o BPaLM;</a:t>
                      </a:r>
                    </a:p>
                    <a:p>
                      <a:pPr marL="0" marR="0" lvl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None/>
                      </a:pPr>
                      <a:endParaRPr lang="en-US" sz="1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Sem evidência de resistência à bedaquilina, linezolida, delamanida ou pretomanida;</a:t>
                      </a:r>
                    </a:p>
                    <a:p>
                      <a:pPr marL="0" marR="0" lvl="0" indent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None/>
                      </a:pPr>
                      <a:endParaRPr lang="en-US" sz="9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Sem história de exposição a qualquer um dos medicamentos do regime por mais de 1 mês;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Idade inferior a 14 anos;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Mulher grávida/lactante;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Exposição prévia a Bedaquilina, Pretomanida, Delamanida, Linezolide  por um período ≥ 1 mês;</a:t>
                      </a: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 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Resistência comprovada a um dos fármacos deste regime 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800"/>
                        <a:buFont typeface="Arial" panose="020B0604020202020204" pitchFamily="34" charset="0"/>
                        <a:buChar char="●"/>
                      </a:pPr>
                      <a:r>
                        <a:rPr lang="pt-BR" sz="2000" u="none" strike="noStrike" kern="100" dirty="0">
                          <a:solidFill>
                            <a:schemeClr val="tx1"/>
                          </a:solidFill>
                          <a:effectLst/>
                        </a:rPr>
                        <a:t>TB óssea, meníngea ou miliar.</a:t>
                      </a:r>
                      <a:endParaRPr lang="en-US" sz="2000" u="none" strike="noStrike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22929456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0BED647-CC4D-F961-6FA3-B17A360B7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728" y="6006802"/>
            <a:ext cx="1107391" cy="705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228C0C7-3B91-472F-4207-62E02C5EC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09" y="5869618"/>
            <a:ext cx="982858" cy="84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97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2281FE-D1EA-74DB-A046-7997A1E8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96" y="1094104"/>
            <a:ext cx="11366500" cy="5041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B. </a:t>
            </a:r>
            <a:r>
              <a:rPr lang="en-US" sz="2400" b="1" u="sng" dirty="0"/>
              <a:t>Regime </a:t>
            </a:r>
            <a:r>
              <a:rPr lang="en-US" sz="2400" b="1" u="sng" dirty="0" err="1"/>
              <a:t>curto</a:t>
            </a:r>
            <a:r>
              <a:rPr lang="en-US" sz="2400" b="1" u="sng" dirty="0"/>
              <a:t> para  o </a:t>
            </a:r>
            <a:r>
              <a:rPr lang="en-US" sz="2400" b="1" u="sng" dirty="0" err="1"/>
              <a:t>tratamento</a:t>
            </a:r>
            <a:r>
              <a:rPr lang="en-US" sz="2400" b="1" u="sng" dirty="0"/>
              <a:t> da TB Pre-XR</a:t>
            </a:r>
          </a:p>
          <a:p>
            <a:pPr marL="0" indent="0">
              <a:buNone/>
            </a:pPr>
            <a:endParaRPr lang="en-US" sz="1100" b="1" u="sng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Os pacientes com TB Pré-XR por resistência as fluoroquinolonas devem iniciar o tratamento com o regime:</a:t>
            </a:r>
          </a:p>
          <a:p>
            <a:pPr marL="0" indent="0">
              <a:buNone/>
            </a:pPr>
            <a:r>
              <a:rPr lang="pt-BR" sz="2400" dirty="0">
                <a:ea typeface="Times New Roman" panose="02020603050405020304" pitchFamily="18" charset="0"/>
              </a:rPr>
              <a:t>            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 </a:t>
            </a:r>
            <a:r>
              <a:rPr lang="pt-BR" sz="2400" b="1" dirty="0">
                <a:effectLst/>
                <a:ea typeface="Times New Roman" panose="02020603050405020304" pitchFamily="18" charset="0"/>
              </a:rPr>
              <a:t>BPaL (6Bdq-Pa-Lzd)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– por um periodo de 6 meses.</a:t>
            </a:r>
          </a:p>
          <a:p>
            <a:pPr marL="0" indent="0">
              <a:buNone/>
            </a:pPr>
            <a:endParaRPr lang="pt-BR" sz="2400" dirty="0"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pt-PT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sz="2400" b="1" u="sng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Nota:</a:t>
            </a:r>
            <a:endParaRPr lang="pt-PT" sz="2400" b="1" u="sng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Nos casos em que a </a:t>
            </a:r>
            <a:r>
              <a:rPr lang="pt-PT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resistência às Fluoroquinolonas</a:t>
            </a:r>
            <a:r>
              <a:rPr lang="pt-PT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é confirmada</a:t>
            </a:r>
            <a:r>
              <a:rPr lang="pt-PT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após o início do tratamento, a moxifloxacina pode ser omitida e o </a:t>
            </a:r>
            <a:r>
              <a:rPr lang="pt-PT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regime BPaL</a:t>
            </a:r>
            <a:r>
              <a:rPr lang="pt-PT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(sem fluoroquinolona) continuado. 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DA3557BB-FCDD-AD05-EEC5-2FADD31F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96" y="145669"/>
            <a:ext cx="11366500" cy="65900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curtos de tratamento para TB Resistente</a:t>
            </a:r>
          </a:p>
        </p:txBody>
      </p:sp>
    </p:spTree>
    <p:extLst>
      <p:ext uri="{BB962C8B-B14F-4D97-AF65-F5344CB8AC3E}">
        <p14:creationId xmlns:p14="http://schemas.microsoft.com/office/powerpoint/2010/main" val="999584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9C0F2A-65C4-5B86-FC75-CEA33088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821"/>
            <a:ext cx="10515600" cy="64071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Modificação/interrupção do tratamento BPaLM/BPaL</a:t>
            </a: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86CFC5-5EF9-1FE1-F5B2-B6B2634AB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033272"/>
            <a:ext cx="10917936" cy="5605907"/>
          </a:xfrm>
        </p:spPr>
        <p:txBody>
          <a:bodyPr>
            <a:norm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pt-PT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interrupção temporária</a:t>
            </a:r>
            <a:r>
              <a:rPr lang="pt-PT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2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 regime</a:t>
            </a:r>
            <a:r>
              <a:rPr lang="pt-PT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é permitida por suspeita de toxicidade aos TAT. A reintrodução pode ser considerada após uma interrupção &lt; a 14 dias consecutivos, ou de até 28 dias cumulativos  (doses não consecutivas). </a:t>
            </a:r>
            <a:r>
              <a:rPr lang="pt-PT" sz="2000" dirty="0"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pt-PT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doses perdidas devem ser compensadas e adicionadas à duração total do tratamento.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Se a</a:t>
            </a:r>
            <a:r>
              <a:rPr lang="pt-PT" sz="2000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0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Fluoroquinolona </a:t>
            </a: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for descontinuada, o regime pode ser continuado como o regime BPaL.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0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Se a </a:t>
            </a:r>
            <a:r>
              <a:rPr lang="pt-PT" sz="20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pt-PT" sz="20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edaquilina ou Pretomanida</a:t>
            </a:r>
            <a:r>
              <a:rPr lang="pt-PT" sz="2000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precisarem ser descontinuadas permanentemente, todo o regime BPaLM/BPaL também deve ser descontinuado.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sz="2000" b="1" dirty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pt-PT" sz="20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inezolide</a:t>
            </a:r>
            <a:r>
              <a:rPr lang="pt-PT" sz="20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lphaLcParenR"/>
            </a:pP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Após 9 semanas de administração consecutiva de linezolide, este pode ser interrompido temporariamente (até 2 semanas) e/ou ser reduzida a dose para 300 mg, se necessário (e </a:t>
            </a:r>
            <a:r>
              <a:rPr lang="pt-PT" sz="2000" dirty="0">
                <a:ea typeface="Calibri" panose="020F0502020204030204" pitchFamily="34" charset="0"/>
                <a:cs typeface="Times New Roman" panose="02020603050405020304" pitchFamily="18" charset="0"/>
              </a:rPr>
              <a:t>negativação dos testes e boa evolução clínica).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Font typeface="+mj-lt"/>
              <a:buAutoNum type="alphaLcParenR"/>
            </a:pPr>
            <a:r>
              <a:rPr lang="pt-PT" sz="2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Quando o paciente tiver completado mais de 18 semanas de tratamento, o linezolide poderá ser interrompido, mantendo os restantes medicamentos do regime BPaLM.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5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A3557BB-FCDD-AD05-EEC5-2FADD31F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96" y="145669"/>
            <a:ext cx="11366500" cy="848254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de tratamento para TB Resistente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13E23F98-75BE-12E4-89E4-9EFD03110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08370"/>
              </p:ext>
            </p:extLst>
          </p:nvPr>
        </p:nvGraphicFramePr>
        <p:xfrm>
          <a:off x="641096" y="1614061"/>
          <a:ext cx="11254896" cy="497137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75727">
                  <a:extLst>
                    <a:ext uri="{9D8B030D-6E8A-4147-A177-3AD203B41FA5}">
                      <a16:colId xmlns:a16="http://schemas.microsoft.com/office/drawing/2014/main" xmlns="" val="388324867"/>
                    </a:ext>
                  </a:extLst>
                </a:gridCol>
                <a:gridCol w="2039815">
                  <a:extLst>
                    <a:ext uri="{9D8B030D-6E8A-4147-A177-3AD203B41FA5}">
                      <a16:colId xmlns:a16="http://schemas.microsoft.com/office/drawing/2014/main" xmlns="" val="2574642138"/>
                    </a:ext>
                  </a:extLst>
                </a:gridCol>
                <a:gridCol w="1846385"/>
                <a:gridCol w="1582615"/>
                <a:gridCol w="1925516"/>
                <a:gridCol w="1784838"/>
              </a:tblGrid>
              <a:tr h="7405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 smtClean="0">
                          <a:effectLst/>
                        </a:rPr>
                        <a:t>Medicamento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30-35.9 kg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36-45.9kg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46-55.9kg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56-69.9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≥70kg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</a:rPr>
                        <a:t> 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5425799"/>
                  </a:ext>
                </a:extLst>
              </a:tr>
              <a:tr h="740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>
                          <a:effectLst/>
                        </a:rPr>
                        <a:t>Bedaquilina</a:t>
                      </a:r>
                      <a:endParaRPr lang="en-US" sz="1800" b="1" u="none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(Comp 100mg)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400 mg/</a:t>
                      </a:r>
                      <a:r>
                        <a:rPr lang="en-US" sz="1800" u="none" dirty="0" err="1">
                          <a:effectLst/>
                        </a:rPr>
                        <a:t>dia</a:t>
                      </a:r>
                      <a:r>
                        <a:rPr lang="en-US" sz="1800" u="none" dirty="0">
                          <a:effectLst/>
                        </a:rPr>
                        <a:t> (4comp) </a:t>
                      </a:r>
                      <a:r>
                        <a:rPr lang="en-US" sz="1800" u="none" dirty="0" err="1">
                          <a:effectLst/>
                        </a:rPr>
                        <a:t>durante</a:t>
                      </a:r>
                      <a:r>
                        <a:rPr lang="en-US" sz="1800" u="none" dirty="0">
                          <a:effectLst/>
                        </a:rPr>
                        <a:t> as 2 </a:t>
                      </a:r>
                      <a:r>
                        <a:rPr lang="en-US" sz="1800" u="none" dirty="0" err="1">
                          <a:effectLst/>
                        </a:rPr>
                        <a:t>primeiras</a:t>
                      </a:r>
                      <a:r>
                        <a:rPr lang="en-US" sz="1800" u="none" dirty="0">
                          <a:effectLst/>
                        </a:rPr>
                        <a:t> Semanas (14 </a:t>
                      </a:r>
                      <a:r>
                        <a:rPr lang="en-US" sz="1800" u="none" dirty="0" err="1">
                          <a:effectLst/>
                        </a:rPr>
                        <a:t>dias</a:t>
                      </a:r>
                      <a:r>
                        <a:rPr lang="en-US" sz="1800" u="none" dirty="0">
                          <a:effectLst/>
                        </a:rPr>
                        <a:t>). A </a:t>
                      </a:r>
                      <a:r>
                        <a:rPr lang="en-US" sz="1800" u="none" dirty="0" err="1">
                          <a:effectLst/>
                        </a:rPr>
                        <a:t>partir</a:t>
                      </a:r>
                      <a:r>
                        <a:rPr lang="en-US" sz="1800" u="none" dirty="0">
                          <a:effectLst/>
                        </a:rPr>
                        <a:t> da 3a </a:t>
                      </a:r>
                      <a:r>
                        <a:rPr lang="en-US" sz="1800" u="none" dirty="0" err="1">
                          <a:effectLst/>
                        </a:rPr>
                        <a:t>semana</a:t>
                      </a:r>
                      <a:r>
                        <a:rPr lang="en-US" sz="1800" u="none" dirty="0">
                          <a:effectLst/>
                        </a:rPr>
                        <a:t>, </a:t>
                      </a:r>
                      <a:r>
                        <a:rPr lang="en-US" sz="1800" u="none" dirty="0" err="1">
                          <a:effectLst/>
                        </a:rPr>
                        <a:t>passar</a:t>
                      </a:r>
                      <a:r>
                        <a:rPr lang="en-US" sz="1800" u="none" dirty="0">
                          <a:effectLst/>
                        </a:rPr>
                        <a:t> para  200 mg (2 comp) / 3 </a:t>
                      </a:r>
                      <a:r>
                        <a:rPr lang="en-US" sz="1800" u="none" dirty="0" err="1">
                          <a:effectLst/>
                        </a:rPr>
                        <a:t>dias</a:t>
                      </a:r>
                      <a:r>
                        <a:rPr lang="en-US" sz="1800" u="none" dirty="0">
                          <a:effectLst/>
                        </a:rPr>
                        <a:t>, </a:t>
                      </a:r>
                      <a:r>
                        <a:rPr lang="en-US" sz="1800" u="none" dirty="0" err="1">
                          <a:effectLst/>
                        </a:rPr>
                        <a:t>por</a:t>
                      </a:r>
                      <a:r>
                        <a:rPr lang="en-US" sz="1800" u="none" dirty="0">
                          <a:effectLst/>
                        </a:rPr>
                        <a:t> </a:t>
                      </a:r>
                      <a:r>
                        <a:rPr lang="en-US" sz="1800" u="none" dirty="0" err="1">
                          <a:effectLst/>
                        </a:rPr>
                        <a:t>semana</a:t>
                      </a:r>
                      <a:r>
                        <a:rPr lang="en-US" sz="1800" u="none" dirty="0">
                          <a:effectLst/>
                        </a:rPr>
                        <a:t> ( 2ª, 4ª e 6ª </a:t>
                      </a:r>
                      <a:r>
                        <a:rPr lang="en-US" sz="1800" u="none" dirty="0" err="1">
                          <a:effectLst/>
                        </a:rPr>
                        <a:t>feira</a:t>
                      </a:r>
                      <a:r>
                        <a:rPr lang="en-US" sz="1800" u="none" dirty="0">
                          <a:effectLst/>
                        </a:rPr>
                        <a:t>)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49371000"/>
                  </a:ext>
                </a:extLst>
              </a:tr>
              <a:tr h="740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>
                          <a:effectLst/>
                        </a:rPr>
                        <a:t>Pretomanida</a:t>
                      </a:r>
                      <a:r>
                        <a:rPr lang="en-US" sz="1800" b="1" u="none" dirty="0">
                          <a:effectLst/>
                        </a:rPr>
                        <a:t> (comp 200 mg)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20904364"/>
                  </a:ext>
                </a:extLst>
              </a:tr>
              <a:tr h="740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>
                          <a:effectLst/>
                        </a:rPr>
                        <a:t>Linezolide</a:t>
                      </a:r>
                      <a:r>
                        <a:rPr lang="en-US" sz="1800" b="1" u="none" dirty="0">
                          <a:effectLst/>
                        </a:rPr>
                        <a:t> (comp 600 mg)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56184305"/>
                  </a:ext>
                </a:extLst>
              </a:tr>
              <a:tr h="91209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>
                          <a:effectLst/>
                        </a:rPr>
                        <a:t>Moxifloxacina</a:t>
                      </a:r>
                      <a:r>
                        <a:rPr lang="en-US" sz="1800" b="1" u="none" dirty="0">
                          <a:effectLst/>
                        </a:rPr>
                        <a:t> (comp 400 mg)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>
                          <a:effectLst/>
                        </a:rPr>
                        <a:t>   Ou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err="1">
                          <a:effectLst/>
                        </a:rPr>
                        <a:t>Levofloxacina</a:t>
                      </a:r>
                      <a:r>
                        <a:rPr lang="en-US" sz="1800" b="1" u="none" dirty="0">
                          <a:effectLst/>
                        </a:rPr>
                        <a:t> (comp250mg)</a:t>
                      </a:r>
                      <a:endParaRPr lang="en-US" sz="1800" b="1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1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1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76849039"/>
                  </a:ext>
                </a:extLst>
              </a:tr>
              <a:tr h="10969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>
                          <a:effectLst/>
                        </a:rPr>
                        <a:t>3</a:t>
                      </a:r>
                      <a:endParaRPr lang="en-US" sz="1800" u="non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3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4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4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effectLst/>
                        </a:rPr>
                        <a:t>4</a:t>
                      </a:r>
                      <a:endParaRPr lang="en-US" sz="18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796033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7A3EA3C-757E-44A1-1C2C-461AC0F53E50}"/>
              </a:ext>
            </a:extLst>
          </p:cNvPr>
          <p:cNvSpPr txBox="1"/>
          <p:nvPr/>
        </p:nvSpPr>
        <p:spPr>
          <a:xfrm>
            <a:off x="641096" y="993923"/>
            <a:ext cx="11366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Tabela de dosagem de medicamentos para o regime curto de tratamento da TB-R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4227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0E308AA1-CE98-4257-935A-72583091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55" y="162936"/>
            <a:ext cx="10515600" cy="47437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PT" sz="3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Cronograma da monitoria do tratamento – Regime BpaL/M</a:t>
            </a:r>
            <a:endParaRPr lang="en-ZA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194" name="image26.png">
            <a:extLst>
              <a:ext uri="{FF2B5EF4-FFF2-40B4-BE49-F238E27FC236}">
                <a16:creationId xmlns:a16="http://schemas.microsoft.com/office/drawing/2014/main" xmlns="" id="{6443BCBD-1CD8-0FA4-046C-B074AE0D5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5" y="803565"/>
            <a:ext cx="10402453" cy="597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48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B8CDA0-41BB-F068-7784-AFCDF376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Atenção</a:t>
            </a:r>
            <a:r>
              <a:rPr lang="en-US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0A9E70-19FD-57FB-B51C-320B8EFD5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78152"/>
            <a:ext cx="10841736" cy="527926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pt-BR" sz="3400" dirty="0"/>
              <a:t>A duração do regime BPaLM é de 6 meses (26 semanas), enquanto o regime BPaL pode ser estendido para um total de 9 meses (39 semanas), nos casos em que há falta de conversão da cultura ou ausência de resposta clínica entre os meses 4 e 6.</a:t>
            </a:r>
          </a:p>
          <a:p>
            <a:pPr marL="0" indent="0">
              <a:lnSpc>
                <a:spcPct val="120000"/>
              </a:lnSpc>
              <a:buNone/>
            </a:pPr>
            <a:endParaRPr lang="pt-PT" sz="3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PT" sz="3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Falência de tratamento: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PT" sz="3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Resultados de TSA com evidência de resistência a algum dos fármacos chave do regime (Bedaquilina, Linezolide).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pt-PT" sz="3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Resposta pobre ou falta de resposta ao tratamento (bacteriológica, sem conversão ou com reversão da baciloscopia, ou sem conversão da cultura do 4º mês; deterioração clínica apesar de ter evidência de boa adesão ao tratamento).</a:t>
            </a:r>
            <a:endParaRPr lang="en-US" sz="3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108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7C2D1569-6DD3-45CC-4A65-94853802D6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64DE32D-A3F0-429F-8CEC-CD44D9CB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27" y="6070255"/>
            <a:ext cx="1170699" cy="6245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B3CBA78-C9ED-A1B6-AB8A-4F69CE9D7DAC}"/>
              </a:ext>
            </a:extLst>
          </p:cNvPr>
          <p:cNvSpPr/>
          <p:nvPr/>
        </p:nvSpPr>
        <p:spPr>
          <a:xfrm>
            <a:off x="0" y="0"/>
            <a:ext cx="12192000" cy="15478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E395AC8-0FA7-30D3-BEA4-EB0B93CD7F63}"/>
              </a:ext>
            </a:extLst>
          </p:cNvPr>
          <p:cNvSpPr txBox="1"/>
          <p:nvPr/>
        </p:nvSpPr>
        <p:spPr>
          <a:xfrm>
            <a:off x="151327" y="6070255"/>
            <a:ext cx="1170699" cy="6245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129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E8CDA-905F-91A3-4E24-AAEB1834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Exercícios</a:t>
            </a:r>
            <a:endParaRPr lang="en-US" sz="32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B5E6FA-F16D-7B8D-793E-974C34CB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752" y="1487297"/>
            <a:ext cx="11204448" cy="4351338"/>
          </a:xfrm>
        </p:spPr>
        <p:txBody>
          <a:bodyPr/>
          <a:lstStyle/>
          <a:p>
            <a:r>
              <a:rPr lang="en-US" b="1" dirty="0" err="1"/>
              <a:t>Trabalho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grupo</a:t>
            </a:r>
            <a:r>
              <a:rPr lang="en-US" b="1" dirty="0"/>
              <a:t> :</a:t>
            </a:r>
          </a:p>
          <a:p>
            <a:pPr marL="0" indent="0">
              <a:buNone/>
            </a:pPr>
            <a:r>
              <a:rPr lang="pt-BR" dirty="0"/>
              <a:t>Oportunidades, necessidades e desafios para a implementação dos regimes curtos de tratamento da TB resistente.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30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0" y="667512"/>
            <a:ext cx="5018272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D95867-38B8-9116-578C-72E171145F69}"/>
              </a:ext>
            </a:extLst>
          </p:cNvPr>
          <p:cNvSpPr txBox="1"/>
          <p:nvPr/>
        </p:nvSpPr>
        <p:spPr>
          <a:xfrm>
            <a:off x="5150358" y="2698253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Resistente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Outras</a:t>
            </a:r>
            <a:r>
              <a:rPr lang="en-US" sz="4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000" b="1" dirty="0" err="1">
                <a:solidFill>
                  <a:prstClr val="black"/>
                </a:solidFill>
                <a:latin typeface="Calibri"/>
              </a:rPr>
              <a:t>Resistências</a:t>
            </a:r>
            <a:endParaRPr lang="en-US" sz="40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8125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A3557BB-FCDD-AD05-EEC5-2FADD31F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96" y="145669"/>
            <a:ext cx="11366500" cy="530987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Regimes de tratamento para TB Resistente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82228C8-66FF-B2CF-5A7A-63A3C820F1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19" t="18472" r="25235" b="9931"/>
          <a:stretch/>
        </p:blipFill>
        <p:spPr>
          <a:xfrm>
            <a:off x="605028" y="1372392"/>
            <a:ext cx="11300460" cy="5485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4C5DD8-531E-8811-6657-037344EBE6C3}"/>
              </a:ext>
            </a:extLst>
          </p:cNvPr>
          <p:cNvSpPr txBox="1"/>
          <p:nvPr/>
        </p:nvSpPr>
        <p:spPr>
          <a:xfrm>
            <a:off x="722376" y="929908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Regimes de </a:t>
            </a:r>
            <a:r>
              <a:rPr lang="en-US" b="1" u="sng" dirty="0" err="1"/>
              <a:t>tratamento</a:t>
            </a:r>
            <a:r>
              <a:rPr lang="en-US" b="1" u="sng" dirty="0"/>
              <a:t> para </a:t>
            </a:r>
            <a:r>
              <a:rPr lang="en-US" b="1" u="sng" dirty="0" err="1"/>
              <a:t>outras</a:t>
            </a:r>
            <a:r>
              <a:rPr lang="en-US" b="1" u="sng" dirty="0"/>
              <a:t> </a:t>
            </a:r>
            <a:r>
              <a:rPr lang="en-US" b="1" u="sng" dirty="0" err="1"/>
              <a:t>resistencias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05077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FEDE6A6-76E9-DC4C-B753-96B44E9D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20" y="667512"/>
            <a:ext cx="4515352" cy="5477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D95867-38B8-9116-578C-72E171145F69}"/>
              </a:ext>
            </a:extLst>
          </p:cNvPr>
          <p:cNvSpPr txBox="1"/>
          <p:nvPr/>
        </p:nvSpPr>
        <p:spPr>
          <a:xfrm>
            <a:off x="5148072" y="2570237"/>
            <a:ext cx="72969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Tuberculose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Extrapulmonar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b="1" dirty="0" err="1">
                <a:solidFill>
                  <a:prstClr val="black"/>
                </a:solidFill>
                <a:latin typeface="Calibri"/>
              </a:rPr>
              <a:t>Situações</a:t>
            </a:r>
            <a:r>
              <a:rPr lang="en-US" sz="3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alibri"/>
              </a:rPr>
              <a:t>especiais</a:t>
            </a:r>
            <a:r>
              <a:rPr lang="en-US" sz="3200" b="1" dirty="0">
                <a:solidFill>
                  <a:prstClr val="black"/>
                </a:solidFill>
                <a:latin typeface="Calibri"/>
              </a:rPr>
              <a:t> (</a:t>
            </a:r>
            <a:r>
              <a:rPr lang="en-US" sz="3200" b="1" dirty="0" err="1">
                <a:solidFill>
                  <a:prstClr val="black"/>
                </a:solidFill>
                <a:latin typeface="Calibri"/>
              </a:rPr>
              <a:t>comorbilidades</a:t>
            </a:r>
            <a:r>
              <a:rPr lang="en-US" sz="3200" b="1" dirty="0">
                <a:solidFill>
                  <a:prstClr val="black"/>
                </a:solidFill>
                <a:latin typeface="Calibri"/>
              </a:rPr>
              <a:t>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71500" marR="0" lvl="0" indent="-5715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457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50" y="335788"/>
            <a:ext cx="11366500" cy="69049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/>
            </a:r>
            <a:br>
              <a:rPr lang="pt-PT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PT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TB Extrapulmonar</a:t>
            </a:r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/>
            </a:r>
            <a:b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pt-PT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B5EE13-00EF-47E5-BC67-54D5D61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50" y="1335024"/>
            <a:ext cx="11366500" cy="4841939"/>
          </a:xfrm>
        </p:spPr>
        <p:txBody>
          <a:bodyPr/>
          <a:lstStyle/>
          <a:p>
            <a:pPr algn="just"/>
            <a:r>
              <a:rPr lang="pt-PT" sz="2400" dirty="0"/>
              <a:t>A TB pode afectar qualquer órgão;</a:t>
            </a:r>
          </a:p>
          <a:p>
            <a:pPr marL="0" indent="0" algn="just">
              <a:buNone/>
            </a:pPr>
            <a:endParaRPr lang="pt-PT" sz="1100" dirty="0"/>
          </a:p>
          <a:p>
            <a:pPr algn="just"/>
            <a:r>
              <a:rPr lang="pt-PT" sz="2400" dirty="0"/>
              <a:t>O tratamento é semelhante na localização pulmonar para a TB </a:t>
            </a:r>
            <a:r>
              <a:rPr lang="pt-PT" sz="2400" dirty="0">
                <a:solidFill>
                  <a:srgbClr val="FF0000"/>
                </a:solidFill>
              </a:rPr>
              <a:t>sensivel</a:t>
            </a:r>
            <a:r>
              <a:rPr lang="pt-PT" sz="2400" dirty="0"/>
              <a:t> e resistente</a:t>
            </a:r>
          </a:p>
          <a:p>
            <a:pPr marL="0" indent="0" algn="just">
              <a:buNone/>
            </a:pPr>
            <a:endParaRPr lang="pt-PT" sz="1400" dirty="0"/>
          </a:p>
          <a:p>
            <a:pPr algn="just"/>
            <a:r>
              <a:rPr lang="pt-PT" sz="2400" dirty="0"/>
              <a:t>Na TB resistente meníngea o regime de tratamento é individualizado tendo em conta a necessidade de farmacos com boa  penetração na barreira hematoencefalica </a:t>
            </a:r>
            <a:br>
              <a:rPr lang="pt-PT" sz="2400" dirty="0"/>
            </a:br>
            <a:r>
              <a:rPr lang="pt-PT" sz="2400" dirty="0"/>
              <a:t>(Lzd, Imp,Cs, Pto, H,R,Z). </a:t>
            </a:r>
          </a:p>
          <a:p>
            <a:pPr marL="0" indent="0" algn="just">
              <a:buNone/>
            </a:pPr>
            <a:r>
              <a:rPr lang="pt-PT" sz="2400" dirty="0"/>
              <a:t>             (Nota: Para meninges inflamadas: Amk,S, FlQ) </a:t>
            </a:r>
          </a:p>
        </p:txBody>
      </p:sp>
    </p:spTree>
    <p:extLst>
      <p:ext uri="{BB962C8B-B14F-4D97-AF65-F5344CB8AC3E}">
        <p14:creationId xmlns:p14="http://schemas.microsoft.com/office/powerpoint/2010/main" val="2972431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xmlns="" id="{B3684CCF-CEBB-4D8E-A366-95E43D4C79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161" y="61660"/>
            <a:ext cx="9256775" cy="722767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Situações especiais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504" y="1636491"/>
            <a:ext cx="4933462" cy="4351338"/>
          </a:xfrm>
        </p:spPr>
        <p:txBody>
          <a:bodyPr>
            <a:normAutofit/>
          </a:bodyPr>
          <a:lstStyle/>
          <a:p>
            <a:r>
              <a:rPr lang="pt-PT" dirty="0"/>
              <a:t>Gravidez</a:t>
            </a:r>
          </a:p>
          <a:p>
            <a:r>
              <a:rPr lang="pt-PT" dirty="0"/>
              <a:t>Aleitamento</a:t>
            </a:r>
          </a:p>
          <a:p>
            <a:r>
              <a:rPr lang="pt-PT" dirty="0"/>
              <a:t>Diabetes mellitus</a:t>
            </a:r>
          </a:p>
          <a:p>
            <a:r>
              <a:rPr lang="pt-PT" dirty="0"/>
              <a:t>Insuficiência renal</a:t>
            </a:r>
          </a:p>
          <a:p>
            <a:r>
              <a:rPr lang="pt-PT" dirty="0"/>
              <a:t>Insuficiência hep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pt-PT" dirty="0"/>
              <a:t>tica</a:t>
            </a:r>
          </a:p>
          <a:p>
            <a:r>
              <a:rPr lang="pt-PT" dirty="0"/>
              <a:t>Condições com convulsões</a:t>
            </a:r>
          </a:p>
          <a:p>
            <a:r>
              <a:rPr lang="pt-PT" dirty="0"/>
              <a:t>Doenças psiquiátricas</a:t>
            </a:r>
          </a:p>
          <a:p>
            <a:endParaRPr lang="pt-PT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E0806C0-7CE2-4853-A9EC-7520781286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7" b="5"/>
          <a:stretch/>
        </p:blipFill>
        <p:spPr>
          <a:xfrm>
            <a:off x="9860534" y="4246339"/>
            <a:ext cx="1937837" cy="1780410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sp>
        <p:nvSpPr>
          <p:cNvPr id="137" name="Arc 136">
            <a:extLst>
              <a:ext uri="{FF2B5EF4-FFF2-40B4-BE49-F238E27FC236}">
                <a16:creationId xmlns:a16="http://schemas.microsoft.com/office/drawing/2014/main" xmlns="" id="{70BEB1E7-2F88-40BC-B73D-42E5B6F80B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Damage Liver Stock Illustrations – 605 Damage Liver Stock Illustrations,  Vectors &amp; Clipart - Dreamstime">
            <a:extLst>
              <a:ext uri="{FF2B5EF4-FFF2-40B4-BE49-F238E27FC236}">
                <a16:creationId xmlns:a16="http://schemas.microsoft.com/office/drawing/2014/main" xmlns="" id="{F3B73613-AA92-497C-84BA-D9C6DDAE36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7" r="9479"/>
          <a:stretch/>
        </p:blipFill>
        <p:spPr bwMode="auto">
          <a:xfrm>
            <a:off x="6765547" y="969264"/>
            <a:ext cx="2385256" cy="2038646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ravidez, Mulher, Silhueta png transparente grátis">
            <a:extLst>
              <a:ext uri="{FF2B5EF4-FFF2-40B4-BE49-F238E27FC236}">
                <a16:creationId xmlns:a16="http://schemas.microsoft.com/office/drawing/2014/main" xmlns="" id="{5CA66BB3-865E-4779-ABDC-48C0DEB76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7" r="19595"/>
          <a:stretch/>
        </p:blipFill>
        <p:spPr bwMode="auto">
          <a:xfrm>
            <a:off x="10437375" y="1165315"/>
            <a:ext cx="1754626" cy="2761570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E039520-5CE7-4C95-BC9E-368435A0E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141" y="4447385"/>
            <a:ext cx="2097655" cy="2097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89CA5E5-3F0E-44CD-B242-928E98CDA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0631" y="2611661"/>
            <a:ext cx="1937837" cy="193783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99693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36" y="262063"/>
            <a:ext cx="10515600" cy="625917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Situações especiais – Diabetes Mellitus</a:t>
            </a:r>
            <a:endParaRPr lang="en-ZA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1121504"/>
            <a:ext cx="11131296" cy="5014120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sz="2300" b="0" i="0" u="none" strike="noStrike" baseline="0" dirty="0">
                <a:solidFill>
                  <a:srgbClr val="2B2A29"/>
                </a:solidFill>
                <a:latin typeface="FrugalSans-Light"/>
              </a:rPr>
              <a:t> O resultado de tratamento da TB-MR no diabético poderá ser desfavorável se a glicémia não for bem controlada. </a:t>
            </a:r>
          </a:p>
          <a:p>
            <a:pPr marL="0" indent="0" algn="l">
              <a:buNone/>
            </a:pPr>
            <a:endParaRPr lang="pt-BR" sz="23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2300" b="0" i="0" u="none" strike="noStrike" baseline="0" dirty="0">
                <a:solidFill>
                  <a:srgbClr val="2B2A29"/>
                </a:solidFill>
                <a:latin typeface="FrugalSans-Light"/>
              </a:rPr>
              <a:t> A diabetes pode potenciar as reacções adversas, especialmente a insuficiência renal e neuropatia periférica.</a:t>
            </a:r>
          </a:p>
          <a:p>
            <a:pPr marL="0" indent="0" algn="l">
              <a:buNone/>
            </a:pPr>
            <a:endParaRPr lang="pt-BR" sz="20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marL="0" indent="0" algn="l">
              <a:buNone/>
            </a:pPr>
            <a:endParaRPr lang="pt-BR" sz="7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marL="0" indent="0" algn="l">
              <a:buNone/>
            </a:pPr>
            <a:r>
              <a:rPr lang="pt-BR" sz="2400" b="0" i="0" strike="noStrike" baseline="0" dirty="0">
                <a:solidFill>
                  <a:srgbClr val="2B2A29"/>
                </a:solidFill>
                <a:latin typeface="FrugalSans-Light"/>
              </a:rPr>
              <a:t>   </a:t>
            </a:r>
            <a:r>
              <a:rPr lang="pt-BR" sz="2400" b="0" i="0" u="sng" strike="noStrike" baseline="0" dirty="0">
                <a:solidFill>
                  <a:srgbClr val="2B2A29"/>
                </a:solidFill>
                <a:latin typeface="FrugalSans-Light"/>
              </a:rPr>
              <a:t>Na assistência ao diabético com TB, sugere-se:</a:t>
            </a:r>
          </a:p>
          <a:p>
            <a:pPr marL="0" indent="0" algn="l">
              <a:buNone/>
            </a:pPr>
            <a:endParaRPr lang="pt-BR" sz="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Controlo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rigoroso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da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glicémia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durante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o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tratamento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da TB.</a:t>
            </a:r>
          </a:p>
          <a:p>
            <a:pPr marL="457200" lvl="1" indent="0" algn="just">
              <a:buNone/>
            </a:pPr>
            <a:endParaRPr lang="en-ZA" sz="11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latin typeface="FrugalSans-Light"/>
              </a:rPr>
              <a:t>Educaç</a:t>
            </a:r>
            <a:r>
              <a:rPr lang="pt-BR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lang="pt-BR" sz="2200" b="0" i="0" u="none" strike="noStrike" baseline="0" dirty="0">
                <a:latin typeface="FrugalSans-Light"/>
              </a:rPr>
              <a:t>o</a:t>
            </a:r>
            <a:r>
              <a:rPr lang="pt-BR" sz="2200" b="0" i="0" u="none" strike="noStrike" baseline="0" dirty="0">
                <a:solidFill>
                  <a:srgbClr val="FF0000"/>
                </a:solidFill>
                <a:latin typeface="FrugalSans-Light"/>
              </a:rPr>
              <a:t> </a:t>
            </a:r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sobre a dieta, controlo de peso, exercício físico, cuidados dos pés e sintomas de hipo e hiperglicémia.</a:t>
            </a:r>
          </a:p>
          <a:p>
            <a:pPr marL="457200" lvl="1" indent="0" algn="just">
              <a:buNone/>
            </a:pPr>
            <a:endParaRPr lang="pt-BR" sz="105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Para os pacientes que se encontrem numa dose de insulina estável, a sua glicémia pode ser monitorada quatro vezes por semana.</a:t>
            </a:r>
          </a:p>
          <a:p>
            <a:pPr lvl="1"/>
            <a:endParaRPr lang="pt-BR" sz="500" b="0" i="0" u="none" strike="noStrike" baseline="0" dirty="0">
              <a:solidFill>
                <a:srgbClr val="2B2A29"/>
              </a:solidFill>
              <a:latin typeface="FrugalSans-Light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873" y="6056189"/>
            <a:ext cx="1107391" cy="625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94F2A7-3AFA-452E-BE35-4840836F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142" y="444943"/>
            <a:ext cx="1353122" cy="13531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606630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36" y="262063"/>
            <a:ext cx="10515600" cy="625917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Situações especiais – Diabetes Mellitus</a:t>
            </a:r>
            <a:endParaRPr lang="en-ZA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8" y="1121504"/>
            <a:ext cx="10515600" cy="458743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pt-BR" sz="2400" b="0" i="0" u="sng" strike="noStrike" baseline="0" dirty="0">
                <a:solidFill>
                  <a:srgbClr val="2B2A29"/>
                </a:solidFill>
                <a:latin typeface="FrugalSans-Light"/>
              </a:rPr>
              <a:t>Na assistência ao diabético com TB, sugere-se:</a:t>
            </a:r>
          </a:p>
          <a:p>
            <a:pPr marL="0" indent="0" algn="l">
              <a:buNone/>
            </a:pPr>
            <a:endParaRPr lang="pt-BR" sz="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/>
            <a:endParaRPr lang="pt-BR" sz="5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Se o paciente estiver a tomar antidiabéticos orais a sua glicémia deve ser monitorada duas vezes por semana e, ajustada se necessário.</a:t>
            </a:r>
          </a:p>
          <a:p>
            <a:pPr algn="just"/>
            <a:endParaRPr lang="pt-BR" sz="2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Controlo semanal da creatinina e  potássio semanalmente no primeiro mês e depois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mensalmente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.</a:t>
            </a:r>
          </a:p>
          <a:p>
            <a:pPr marL="457200" lvl="1" indent="0" algn="just">
              <a:buNone/>
            </a:pPr>
            <a:endParaRPr lang="en-ZA" sz="2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Despiste e tratamento da hipertensão: Medição mensal da tensão arterial;</a:t>
            </a:r>
          </a:p>
          <a:p>
            <a:pPr marL="457200" lvl="1" indent="0" algn="just">
              <a:buNone/>
            </a:pPr>
            <a:endParaRPr lang="pt-BR" sz="2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lvl="1" algn="just"/>
            <a:r>
              <a:rPr lang="pt-BR" sz="2200" b="0" i="0" u="none" strike="noStrike" baseline="0" dirty="0">
                <a:solidFill>
                  <a:srgbClr val="2B2A29"/>
                </a:solidFill>
                <a:latin typeface="FrugalSans-Light"/>
              </a:rPr>
              <a:t>Os pacientes com hipertensão e diabetes devem iniciar um Inibidor da Enzima de Conversão 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de </a:t>
            </a:r>
            <a:r>
              <a:rPr lang="en-ZA" sz="2200" b="0" i="0" u="none" strike="noStrike" baseline="0" dirty="0" err="1">
                <a:solidFill>
                  <a:srgbClr val="2B2A29"/>
                </a:solidFill>
                <a:latin typeface="FrugalSans-Light"/>
              </a:rPr>
              <a:t>Angiotensina</a:t>
            </a:r>
            <a:r>
              <a:rPr lang="en-ZA" sz="2200" b="0" i="0" u="none" strike="noStrike" baseline="0" dirty="0">
                <a:solidFill>
                  <a:srgbClr val="2B2A29"/>
                </a:solidFill>
                <a:latin typeface="FrugalSans-Light"/>
              </a:rPr>
              <a:t> (IECA).</a:t>
            </a:r>
            <a:endParaRPr lang="en-ZA" sz="2200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94F2A7-3AFA-452E-BE35-4840836F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142" y="444943"/>
            <a:ext cx="1353122" cy="13531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44800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431" y="273314"/>
            <a:ext cx="10515600" cy="59499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Insuficiência Renal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F3B15EA-A42B-4F7C-9C7A-97224D2D6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6946" y="0"/>
            <a:ext cx="1757317" cy="1757317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43CD354-1F22-495A-90B7-CBD71919E37E}"/>
              </a:ext>
            </a:extLst>
          </p:cNvPr>
          <p:cNvSpPr txBox="1"/>
          <p:nvPr/>
        </p:nvSpPr>
        <p:spPr>
          <a:xfrm>
            <a:off x="433137" y="1530728"/>
            <a:ext cx="10920663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2B2A29"/>
                </a:solidFill>
              </a:rPr>
              <a:t>A insuficiência renal devido à TB prolongada não é rara. Os medicamentos da TB-MR que dependem da depuração renal para a sua eliminação são: os aminoglicósidos, Etambutol e Cicloserina;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2B2A29"/>
                </a:solidFill>
              </a:rPr>
              <a:t>Os metabólitos da Pirazinamida são também primariamente eliminados pelos rins.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2B2A29"/>
                </a:solidFill>
              </a:rPr>
              <a:t>A dosagem e/ou intervalo entre as doses devem ser ajustados de acordeo com o valor da depuração de creatinina;</a:t>
            </a:r>
          </a:p>
          <a:p>
            <a:pPr algn="l">
              <a:lnSpc>
                <a:spcPct val="150000"/>
              </a:lnSpc>
            </a:pPr>
            <a:endParaRPr lang="pt-BR" sz="2000" b="0" i="0" u="none" strike="noStrike" baseline="0" dirty="0">
              <a:solidFill>
                <a:srgbClr val="2B2A29"/>
              </a:solidFill>
            </a:endParaRPr>
          </a:p>
          <a:p>
            <a:pPr algn="l">
              <a:lnSpc>
                <a:spcPct val="150000"/>
              </a:lnSpc>
            </a:pPr>
            <a:endParaRPr lang="pt-BR" sz="2000" dirty="0">
              <a:solidFill>
                <a:srgbClr val="2B2A29"/>
              </a:solidFill>
            </a:endParaRPr>
          </a:p>
          <a:p>
            <a:pPr algn="l">
              <a:lnSpc>
                <a:spcPct val="150000"/>
              </a:lnSpc>
            </a:pPr>
            <a:endParaRPr lang="pt-BR" sz="2000" dirty="0">
              <a:solidFill>
                <a:srgbClr val="2B2A29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2B2A29"/>
                </a:solidFill>
              </a:rPr>
              <a:t>Valores normais para a depuração de creatinina: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2B2A29"/>
                </a:solidFill>
              </a:rPr>
              <a:t>Homem: 97 a 137ml/mi</a:t>
            </a:r>
            <a:r>
              <a:rPr lang="pt-BR" sz="2000" dirty="0">
                <a:solidFill>
                  <a:srgbClr val="2B2A29"/>
                </a:solidFill>
              </a:rPr>
              <a:t>n     /        </a:t>
            </a:r>
            <a:r>
              <a:rPr lang="pt-BR" sz="2000" b="0" i="0" u="none" strike="noStrike" baseline="0" dirty="0">
                <a:solidFill>
                  <a:srgbClr val="2B2A29"/>
                </a:solidFill>
              </a:rPr>
              <a:t>Mulher: 88 a 128ml/min</a:t>
            </a:r>
            <a:endParaRPr lang="en-Z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DA619E10-8756-4D1E-AD75-A3CB46D2E38B}"/>
                  </a:ext>
                </a:extLst>
              </p:cNvPr>
              <p:cNvSpPr/>
              <p:nvPr/>
            </p:nvSpPr>
            <p:spPr>
              <a:xfrm>
                <a:off x="1836578" y="4175480"/>
                <a:ext cx="5743073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𝐷𝐶</m:t>
                      </m:r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𝑜𝑢</m:t>
                      </m:r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𝑇𝐹𝐺</m:t>
                      </m:r>
                      <m:r>
                        <a:rPr lang="en-ZA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140−</m:t>
                              </m:r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𝑖𝑑𝑎𝑑𝑒</m:t>
                              </m:r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𝑒𝑚</m:t>
                              </m:r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ZA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𝑎𝑛𝑜𝑠</m:t>
                              </m:r>
                            </m:e>
                          </m:d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𝑝𝑒𝑠𝑜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𝑒𝑚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𝐾𝑔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72 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𝑐𝑟𝑒𝑎𝑡𝑖𝑛𝑖𝑛𝑎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𝑝𝑙𝑎𝑠𝑚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á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𝑡𝑖𝑐𝑎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𝑒𝑚</m:t>
                          </m:r>
                          <m:r>
                            <a:rPr lang="pt-PT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pt-PT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𝑚𝑔</m:t>
                          </m:r>
                          <m:r>
                            <a:rPr lang="pt-PT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pt-PT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𝑑𝑙</m:t>
                          </m:r>
                          <m:r>
                            <a:rPr lang="en-ZA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ZA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A619E10-8756-4D1E-AD75-A3CB46D2E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78" y="4175480"/>
                <a:ext cx="5743073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E529F3-BDF5-40BC-A2DB-B7173653578A}"/>
              </a:ext>
            </a:extLst>
          </p:cNvPr>
          <p:cNvSpPr/>
          <p:nvPr/>
        </p:nvSpPr>
        <p:spPr>
          <a:xfrm>
            <a:off x="8486274" y="3884140"/>
            <a:ext cx="2867526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0" i="0" u="none" strike="noStrike" baseline="0" dirty="0">
                <a:solidFill>
                  <a:schemeClr val="bg1"/>
                </a:solidFill>
              </a:rPr>
              <a:t>É recomendada uma correcção nas mulheres (0.85 vezes o resultado da fórmula).</a:t>
            </a:r>
          </a:p>
        </p:txBody>
      </p:sp>
    </p:spTree>
    <p:extLst>
      <p:ext uri="{BB962C8B-B14F-4D97-AF65-F5344CB8AC3E}">
        <p14:creationId xmlns:p14="http://schemas.microsoft.com/office/powerpoint/2010/main" val="3175529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F3B15EA-A42B-4F7C-9C7A-97224D2D6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6946" y="0"/>
            <a:ext cx="1757317" cy="1757317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6975665-A167-4D1E-8A89-217E1EE114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553" t="16842" r="24605" b="10877"/>
          <a:stretch/>
        </p:blipFill>
        <p:spPr>
          <a:xfrm>
            <a:off x="722376" y="1077129"/>
            <a:ext cx="9834787" cy="537410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xmlns="" id="{6FB0A7DE-097E-6C0A-D150-B90DB1864689}"/>
              </a:ext>
            </a:extLst>
          </p:cNvPr>
          <p:cNvSpPr txBox="1">
            <a:spLocks/>
          </p:cNvSpPr>
          <p:nvPr/>
        </p:nvSpPr>
        <p:spPr>
          <a:xfrm>
            <a:off x="595683" y="242388"/>
            <a:ext cx="9671263" cy="5949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Insuficiência Renal</a:t>
            </a:r>
            <a:endParaRPr lang="en-ZA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96550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80" y="204411"/>
            <a:ext cx="10515600" cy="82082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Insuficiência hepática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517"/>
            <a:ext cx="10515600" cy="501935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Os medicamentos de primeira linha: Isoniazida, Rifampicina e Pirazinamida são hepatotóxicos.</a:t>
            </a:r>
          </a:p>
          <a:p>
            <a:pPr marL="0" indent="0" algn="l">
              <a:buNone/>
            </a:pPr>
            <a:endParaRPr lang="pt-BR" sz="12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l"/>
            <a:r>
              <a:rPr lang="pt-BR" sz="2400" dirty="0">
                <a:solidFill>
                  <a:srgbClr val="2B2A29"/>
                </a:solidFill>
                <a:latin typeface="FrugalSans-Light"/>
              </a:rPr>
              <a:t>R</a:t>
            </a:r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ifampicina é a que menos causa alterações hepatocelulares, contudo, esta pode </a:t>
            </a:r>
            <a:r>
              <a:rPr lang="en-ZA" sz="2400" b="0" i="0" u="none" strike="noStrike" baseline="0" dirty="0" err="1">
                <a:solidFill>
                  <a:srgbClr val="2B2A29"/>
                </a:solidFill>
                <a:latin typeface="FrugalSans-Light"/>
              </a:rPr>
              <a:t>causar</a:t>
            </a:r>
            <a:r>
              <a:rPr lang="en-ZA" sz="2400" b="0" i="0" u="none" strike="noStrike" baseline="0" dirty="0">
                <a:solidFill>
                  <a:srgbClr val="2B2A29"/>
                </a:solidFill>
                <a:latin typeface="FrugalSans-Light"/>
              </a:rPr>
              <a:t> </a:t>
            </a:r>
            <a:r>
              <a:rPr lang="en-ZA" sz="2400" b="0" i="0" u="none" strike="noStrike" baseline="0" dirty="0" err="1">
                <a:solidFill>
                  <a:srgbClr val="2B2A29"/>
                </a:solidFill>
                <a:latin typeface="FrugalSans-Light"/>
              </a:rPr>
              <a:t>icterícia</a:t>
            </a:r>
            <a:r>
              <a:rPr lang="en-ZA" sz="2400" b="0" i="0" u="none" strike="noStrike" baseline="0" dirty="0">
                <a:solidFill>
                  <a:srgbClr val="2B2A29"/>
                </a:solidFill>
                <a:latin typeface="FrugalSans-Light"/>
              </a:rPr>
              <a:t> </a:t>
            </a:r>
            <a:r>
              <a:rPr lang="en-ZA" sz="2400" b="0" i="0" u="none" strike="noStrike" baseline="0" dirty="0" err="1">
                <a:solidFill>
                  <a:srgbClr val="2B2A29"/>
                </a:solidFill>
                <a:latin typeface="FrugalSans-Light"/>
              </a:rPr>
              <a:t>colestática</a:t>
            </a:r>
            <a:r>
              <a:rPr lang="en-ZA" sz="2400" b="0" i="0" u="none" strike="noStrike" baseline="0" dirty="0">
                <a:solidFill>
                  <a:srgbClr val="2B2A29"/>
                </a:solidFill>
                <a:latin typeface="FrugalSans-Light"/>
              </a:rPr>
              <a:t>.</a:t>
            </a:r>
          </a:p>
          <a:p>
            <a:pPr marL="0" indent="0" algn="l">
              <a:buNone/>
            </a:pPr>
            <a:endParaRPr lang="en-ZA" sz="105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A Pirazinamida é a mais hepatotóxica, dos três medicamentos da primeira linha. </a:t>
            </a:r>
          </a:p>
          <a:p>
            <a:pPr marL="0" indent="0" algn="l">
              <a:buNone/>
            </a:pPr>
            <a:endParaRPr lang="pt-BR" sz="8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A Etionamida, Proteonamida, Linezolide, Clofazimina, Bedaquilina e o PAS podem causar hepatotoxicidade mas, em menor escala, quando comparados com os medicamentos de primeira linha. </a:t>
            </a:r>
          </a:p>
          <a:p>
            <a:pPr marL="0" indent="0" algn="l">
              <a:buNone/>
            </a:pPr>
            <a:endParaRPr lang="pt-BR" sz="16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l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A hepatite raramente ocorre quando são usadas fluoroquinolonas.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BB06554-A20C-4F38-B126-E927536F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096" y="5616603"/>
            <a:ext cx="1551168" cy="11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101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FCDD8-967F-46E1-9C4C-1B7A6DE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Insuficiência hepática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D80094-8713-4EFD-83B7-FFB2749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964"/>
            <a:ext cx="9634896" cy="5019358"/>
          </a:xfrm>
        </p:spPr>
        <p:txBody>
          <a:bodyPr>
            <a:normAutofit/>
          </a:bodyPr>
          <a:lstStyle/>
          <a:p>
            <a:pPr algn="just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Pacientes com história de doença hepática, podem ser medicados com os regimes normalmente utilizados para a TB-MR, desde que não haja evidência clínica de doença severa, não tenham história recente de hepatite aguda ou consumo excessivo de álcool.</a:t>
            </a:r>
            <a:endParaRPr lang="pt-BR" sz="2400" dirty="0">
              <a:solidFill>
                <a:srgbClr val="2B2A29"/>
              </a:solidFill>
              <a:latin typeface="FrugalSans-Light"/>
            </a:endParaRPr>
          </a:p>
          <a:p>
            <a:pPr marL="0" indent="0" algn="just">
              <a:buNone/>
            </a:pPr>
            <a:endParaRPr lang="pt-BR" sz="24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just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Todos outros medicamentos podem ser utilizados mas, recomenda-se uma monitoria frequente e rigorosa das enzimas hepáticas. Se, entretanto, ocorrer agravamento significativo da inflamação hepática, deve-se suspender o medicamento em causa.</a:t>
            </a:r>
          </a:p>
          <a:p>
            <a:pPr marL="0" indent="0" algn="just">
              <a:buNone/>
            </a:pPr>
            <a:endParaRPr lang="pt-BR" sz="2400" b="0" i="0" u="none" strike="noStrike" baseline="0" dirty="0">
              <a:solidFill>
                <a:srgbClr val="2B2A29"/>
              </a:solidFill>
              <a:latin typeface="FrugalSans-Light"/>
            </a:endParaRPr>
          </a:p>
          <a:p>
            <a:pPr algn="just"/>
            <a:r>
              <a:rPr lang="pt-BR" sz="2400" b="0" i="0" u="none" strike="noStrike" baseline="0" dirty="0">
                <a:solidFill>
                  <a:srgbClr val="2B2A29"/>
                </a:solidFill>
                <a:latin typeface="FrugalSans-Light"/>
              </a:rPr>
              <a:t>Então é necessário que seja feita avaliação clínica e laboratorial dos pacientes para cedo diagnosticar as afecções hepáticas.</a:t>
            </a:r>
            <a:endParaRPr lang="en-ZA" sz="2400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xmlns="" id="{0A5BDD15-E8CB-4A82-B25D-17AAA71D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6" y="6232082"/>
            <a:ext cx="1107391" cy="625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BB06554-A20C-4F38-B126-E927536F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096" y="5616603"/>
            <a:ext cx="1551168" cy="11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51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7A2D51-DD92-4E68-9FF8-A216FFB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76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Pontos</a:t>
            </a:r>
            <a:r>
              <a:rPr lang="en-GB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sz="32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Chaves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23DF74-2885-4553-A928-68F5DB41C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273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pt-PT" dirty="0"/>
              <a:t>O sucesso do tratamento da tuberculose </a:t>
            </a:r>
            <a:r>
              <a:rPr lang="pt-PT" dirty="0">
                <a:cs typeface="Times New Roman" panose="02020603050405020304" pitchFamily="18" charset="0"/>
              </a:rPr>
              <a:t>é</a:t>
            </a:r>
            <a:r>
              <a:rPr lang="pt-PT" dirty="0"/>
              <a:t> fundamental para o controlo da doença e requer uma abordagem multisdisciplinar</a:t>
            </a:r>
          </a:p>
          <a:p>
            <a:pPr>
              <a:lnSpc>
                <a:spcPct val="150000"/>
              </a:lnSpc>
            </a:pPr>
            <a:r>
              <a:rPr lang="pt-PT" dirty="0"/>
              <a:t>São princípios do tratamento a associaç</a:t>
            </a:r>
            <a:r>
              <a:rPr lang="pt-PT" dirty="0">
                <a:cs typeface="Times New Roman" panose="02020603050405020304" pitchFamily="18" charset="0"/>
              </a:rPr>
              <a:t>ã</a:t>
            </a:r>
            <a:r>
              <a:rPr lang="pt-PT" dirty="0"/>
              <a:t>o de fármacos, a duraç</a:t>
            </a:r>
            <a:r>
              <a:rPr lang="pt-PT" dirty="0">
                <a:cs typeface="Times New Roman" panose="02020603050405020304" pitchFamily="18" charset="0"/>
              </a:rPr>
              <a:t>ã</a:t>
            </a:r>
            <a:r>
              <a:rPr lang="pt-PT" dirty="0"/>
              <a:t>o do tratamento e a administraç</a:t>
            </a:r>
            <a:r>
              <a:rPr lang="pt-PT" dirty="0">
                <a:cs typeface="Times New Roman" panose="02020603050405020304" pitchFamily="18" charset="0"/>
              </a:rPr>
              <a:t>ã</a:t>
            </a:r>
            <a:r>
              <a:rPr lang="pt-PT" dirty="0"/>
              <a:t>o da toma diária</a:t>
            </a:r>
          </a:p>
          <a:p>
            <a:pPr>
              <a:lnSpc>
                <a:spcPct val="150000"/>
              </a:lnSpc>
            </a:pPr>
            <a:r>
              <a:rPr lang="pt-PT" dirty="0"/>
              <a:t>O MTB é aeróbio estrito e o seu comportamento depende do ambiente em que estiver;</a:t>
            </a:r>
          </a:p>
          <a:p>
            <a:pPr>
              <a:lnSpc>
                <a:spcPct val="150000"/>
              </a:lnSpc>
            </a:pPr>
            <a:r>
              <a:rPr lang="pt-PT" dirty="0"/>
              <a:t>São princípios do tratamento a melhoria clínica, a conversão do BK e cultura e a prevenção de recaídas.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47285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170FEB-C25D-4D50-B81A-78DC7598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50" y="4784132"/>
            <a:ext cx="10869785" cy="990342"/>
          </a:xfrm>
        </p:spPr>
        <p:txBody>
          <a:bodyPr/>
          <a:lstStyle/>
          <a:p>
            <a:pPr algn="ctr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7F40D654-E986-4C1B-831E-DF52D43B2B4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74531" y="1233577"/>
            <a:ext cx="4437991" cy="355055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4C72D37-4FCD-1C8C-CA2F-4A79409B2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769" y="744291"/>
            <a:ext cx="5460124" cy="375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9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5148</TotalTime>
  <Words>2626</Words>
  <Application>Microsoft Office PowerPoint</Application>
  <PresentationFormat>Widescreen</PresentationFormat>
  <Paragraphs>404</Paragraphs>
  <Slides>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8" baseType="lpstr">
      <vt:lpstr>MS PGothic</vt:lpstr>
      <vt:lpstr>MS PGothic</vt:lpstr>
      <vt:lpstr>Aharoni</vt:lpstr>
      <vt:lpstr>Aptos</vt:lpstr>
      <vt:lpstr>Aptos Narrow</vt:lpstr>
      <vt:lpstr>Arial</vt:lpstr>
      <vt:lpstr>Calibri</vt:lpstr>
      <vt:lpstr>Calibri Light</vt:lpstr>
      <vt:lpstr>Cambria</vt:lpstr>
      <vt:lpstr>Cambria Math</vt:lpstr>
      <vt:lpstr>Courier New</vt:lpstr>
      <vt:lpstr>FrugalSans-Light</vt:lpstr>
      <vt:lpstr>Lucida Sans</vt:lpstr>
      <vt:lpstr>Symbol</vt:lpstr>
      <vt:lpstr>Tahoma</vt:lpstr>
      <vt:lpstr>Times New Roman</vt:lpstr>
      <vt:lpstr>Wingdings</vt:lpstr>
      <vt:lpstr>Office Theme</vt:lpstr>
      <vt:lpstr>Tema:  Tratamento da Tuberculose no Adulto</vt:lpstr>
      <vt:lpstr>Conteúdo</vt:lpstr>
      <vt:lpstr>Objectivos de aprendizagem</vt:lpstr>
      <vt:lpstr>Introdução</vt:lpstr>
      <vt:lpstr>Medicamentos para o tratamento da TB</vt:lpstr>
      <vt:lpstr>Mecanismo de acção dos medicamento Anti-TB </vt:lpstr>
      <vt:lpstr>Características desejáveis dos medicamentos  para compor os regimes anti-TB</vt:lpstr>
      <vt:lpstr>Princípios gerais do tratamento</vt:lpstr>
      <vt:lpstr>PowerPoint Presentation</vt:lpstr>
      <vt:lpstr>PowerPoint Presentation</vt:lpstr>
      <vt:lpstr>Tratamento da TB sensível</vt:lpstr>
      <vt:lpstr>Monitoria do tratamento – TB Sensível</vt:lpstr>
      <vt:lpstr>Monitoria do tratamento – TB Sensível</vt:lpstr>
      <vt:lpstr>PowerPoint Presentation</vt:lpstr>
      <vt:lpstr>Classificação da TB segundo o tipo de resistência</vt:lpstr>
      <vt:lpstr>Classificação dos medicamentos da TB MR</vt:lpstr>
      <vt:lpstr>Regimes de tratamento para TB Resistente</vt:lpstr>
      <vt:lpstr>PowerPoint Presentation</vt:lpstr>
      <vt:lpstr>Regimes longos de tratamento da TB Resistente</vt:lpstr>
      <vt:lpstr>Regimes longos de tratamento da TB Resistente</vt:lpstr>
      <vt:lpstr>Regimes longos de tratamento para TB Resistente</vt:lpstr>
      <vt:lpstr>Monitoria do tratamento – TB Resistente</vt:lpstr>
      <vt:lpstr>Monitoria do tratamento – TB Resistente</vt:lpstr>
      <vt:lpstr>Cronograma da monitoria do tratamento – Regime longo</vt:lpstr>
      <vt:lpstr>PowerPoint Presentation</vt:lpstr>
      <vt:lpstr>Regimes curtos de tratamento de TB Resistente</vt:lpstr>
      <vt:lpstr>TBR: Regime longo Vs Regime curto</vt:lpstr>
      <vt:lpstr> Regimes curtos de tratamento para TB resistente </vt:lpstr>
      <vt:lpstr>Regimes curtos de tratamento de TB Resistente</vt:lpstr>
      <vt:lpstr>Regimes curtos de tratamento para TB Resistente</vt:lpstr>
      <vt:lpstr>Regimes curtos de tratamento para TB Resistente</vt:lpstr>
      <vt:lpstr>Modificação/interrupção do tratamento BPaLM/BPaL</vt:lpstr>
      <vt:lpstr>Regimes de tratamento para TB Resistente</vt:lpstr>
      <vt:lpstr>Cronograma da monitoria do tratamento – Regime BpaL/M</vt:lpstr>
      <vt:lpstr>Atenção: </vt:lpstr>
      <vt:lpstr>PowerPoint Presentation</vt:lpstr>
      <vt:lpstr>Exercícios</vt:lpstr>
      <vt:lpstr>PowerPoint Presentation</vt:lpstr>
      <vt:lpstr>Regimes de tratamento para TB Resistente</vt:lpstr>
      <vt:lpstr>PowerPoint Presentation</vt:lpstr>
      <vt:lpstr> TB Extrapulmonar </vt:lpstr>
      <vt:lpstr>Situações especiais</vt:lpstr>
      <vt:lpstr>Situações especiais – Diabetes Mellitus</vt:lpstr>
      <vt:lpstr>Situações especiais – Diabetes Mellitus</vt:lpstr>
      <vt:lpstr>Insuficiência Renal</vt:lpstr>
      <vt:lpstr>PowerPoint Presentation</vt:lpstr>
      <vt:lpstr>Insuficiência hepática</vt:lpstr>
      <vt:lpstr>Insuficiência hepática</vt:lpstr>
      <vt:lpstr>Pontos Chaves</vt:lpstr>
      <vt:lpstr>Obrigado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Crimenia Promilda Mutemba</dc:creator>
  <cp:lastModifiedBy>USER</cp:lastModifiedBy>
  <cp:revision>60</cp:revision>
  <dcterms:created xsi:type="dcterms:W3CDTF">2020-11-23T08:43:27Z</dcterms:created>
  <dcterms:modified xsi:type="dcterms:W3CDTF">2024-10-01T11:43:37Z</dcterms:modified>
</cp:coreProperties>
</file>